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 id="2147483706" r:id="rId2"/>
  </p:sldMasterIdLst>
  <p:notesMasterIdLst>
    <p:notesMasterId r:id="rId22"/>
  </p:notesMasterIdLst>
  <p:sldIdLst>
    <p:sldId id="257" r:id="rId3"/>
    <p:sldId id="258" r:id="rId4"/>
    <p:sldId id="261" r:id="rId5"/>
    <p:sldId id="272" r:id="rId6"/>
    <p:sldId id="268" r:id="rId7"/>
    <p:sldId id="264" r:id="rId8"/>
    <p:sldId id="270" r:id="rId9"/>
    <p:sldId id="283" r:id="rId10"/>
    <p:sldId id="279" r:id="rId11"/>
    <p:sldId id="269" r:id="rId12"/>
    <p:sldId id="271" r:id="rId13"/>
    <p:sldId id="284" r:id="rId14"/>
    <p:sldId id="273" r:id="rId15"/>
    <p:sldId id="280" r:id="rId16"/>
    <p:sldId id="281" r:id="rId17"/>
    <p:sldId id="282" r:id="rId18"/>
    <p:sldId id="276" r:id="rId19"/>
    <p:sldId id="278" r:id="rId20"/>
    <p:sldId id="275"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4673"/>
    <a:srgbClr val="989800"/>
    <a:srgbClr val="787800"/>
    <a:srgbClr val="FFF27F"/>
    <a:srgbClr val="6DA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75" autoAdjust="0"/>
    <p:restoredTop sz="76225"/>
  </p:normalViewPr>
  <p:slideViewPr>
    <p:cSldViewPr snapToGrid="0">
      <p:cViewPr>
        <p:scale>
          <a:sx n="112" d="100"/>
          <a:sy n="112" d="100"/>
        </p:scale>
        <p:origin x="1480" y="-1336"/>
      </p:cViewPr>
      <p:guideLst/>
    </p:cSldViewPr>
  </p:slideViewPr>
  <p:notesTextViewPr>
    <p:cViewPr>
      <p:scale>
        <a:sx n="1" d="1"/>
        <a:sy n="1" d="1"/>
      </p:scale>
      <p:origin x="0" y="0"/>
    </p:cViewPr>
  </p:notesTextViewPr>
  <p:notesViewPr>
    <p:cSldViewPr snapToGrid="0">
      <p:cViewPr varScale="1">
        <p:scale>
          <a:sx n="85" d="100"/>
          <a:sy n="85" d="100"/>
        </p:scale>
        <p:origin x="295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6513B-EBB8-49B6-BD8F-2652FE9ECEC6}" type="datetimeFigureOut">
              <a:rPr lang="en-GB" smtClean="0"/>
              <a:t>14/10/2026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36BB30-4C71-4D09-933A-B2F84F8C947D}" type="slidenum">
              <a:rPr lang="en-GB" smtClean="0"/>
              <a:t>‹#›</a:t>
            </a:fld>
            <a:endParaRPr lang="en-GB"/>
          </a:p>
        </p:txBody>
      </p:sp>
    </p:spTree>
    <p:extLst>
      <p:ext uri="{BB962C8B-B14F-4D97-AF65-F5344CB8AC3E}">
        <p14:creationId xmlns:p14="http://schemas.microsoft.com/office/powerpoint/2010/main" val="2166572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Colleagues, the key objective of our project is to create a digital employee passport. To this end, we have set ourselves a number of strategic objectives. Firstly, this involves systematically reducing the human factor and improving overall safety on the platform. Secondly, we aim to move away from outdated, bureaucratic certification towards a dynamic model – the continuous, real-time monitoring of competencies. Ultimately, we will integrate disparate data systems to gain a clear picture of our staff’s strengths and weaknesses and to understand exactly which tasks on the airfield a particular employee is best suited for.</a:t>
            </a:r>
          </a:p>
        </p:txBody>
      </p:sp>
      <p:sp>
        <p:nvSpPr>
          <p:cNvPr id="4" name="Slide Number Placeholder 3"/>
          <p:cNvSpPr>
            <a:spLocks noGrp="1"/>
          </p:cNvSpPr>
          <p:nvPr>
            <p:ph type="sldNum" sz="quarter" idx="5"/>
          </p:nvPr>
        </p:nvSpPr>
        <p:spPr/>
        <p:txBody>
          <a:bodyPr/>
          <a:lstStyle/>
          <a:p>
            <a:fld id="{0136BB30-4C71-4D09-933A-B2F84F8C947D}" type="slidenum">
              <a:rPr lang="en-GB" smtClean="0"/>
              <a:t>3</a:t>
            </a:fld>
            <a:endParaRPr lang="en-GB"/>
          </a:p>
        </p:txBody>
      </p:sp>
    </p:spTree>
    <p:extLst>
      <p:ext uri="{BB962C8B-B14F-4D97-AF65-F5344CB8AC3E}">
        <p14:creationId xmlns:p14="http://schemas.microsoft.com/office/powerpoint/2010/main" val="4124343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reviewing a literature sources the following shortcomings were identified. </a:t>
            </a:r>
          </a:p>
        </p:txBody>
      </p:sp>
      <p:sp>
        <p:nvSpPr>
          <p:cNvPr id="4" name="Slide Number Placeholder 3"/>
          <p:cNvSpPr>
            <a:spLocks noGrp="1"/>
          </p:cNvSpPr>
          <p:nvPr>
            <p:ph type="sldNum" sz="quarter" idx="5"/>
          </p:nvPr>
        </p:nvSpPr>
        <p:spPr/>
        <p:txBody>
          <a:bodyPr/>
          <a:lstStyle/>
          <a:p>
            <a:fld id="{0136BB30-4C71-4D09-933A-B2F84F8C947D}" type="slidenum">
              <a:rPr lang="en-GB" smtClean="0"/>
              <a:t>4</a:t>
            </a:fld>
            <a:endParaRPr lang="en-GB"/>
          </a:p>
        </p:txBody>
      </p:sp>
    </p:spTree>
    <p:extLst>
      <p:ext uri="{BB962C8B-B14F-4D97-AF65-F5344CB8AC3E}">
        <p14:creationId xmlns:p14="http://schemas.microsoft.com/office/powerpoint/2010/main" val="1256500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36BB30-4C71-4D09-933A-B2F84F8C947D}" type="slidenum">
              <a:rPr lang="en-GB" smtClean="0"/>
              <a:t>5</a:t>
            </a:fld>
            <a:endParaRPr lang="en-GB"/>
          </a:p>
        </p:txBody>
      </p:sp>
    </p:spTree>
    <p:extLst>
      <p:ext uri="{BB962C8B-B14F-4D97-AF65-F5344CB8AC3E}">
        <p14:creationId xmlns:p14="http://schemas.microsoft.com/office/powerpoint/2010/main" val="2046563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36BB30-4C71-4D09-933A-B2F84F8C947D}" type="slidenum">
              <a:rPr lang="en-GB" smtClean="0"/>
              <a:t>6</a:t>
            </a:fld>
            <a:endParaRPr lang="en-GB"/>
          </a:p>
        </p:txBody>
      </p:sp>
    </p:spTree>
    <p:extLst>
      <p:ext uri="{BB962C8B-B14F-4D97-AF65-F5344CB8AC3E}">
        <p14:creationId xmlns:p14="http://schemas.microsoft.com/office/powerpoint/2010/main" val="3423902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this slide we representing 5 tier architectural concept model where by collecting data from 3 base layers  collecting information and monitoring equipment, fundamental knowledges and procedure performing acts to build DT model  on forth layer and developing predicting risk layer on fifth. That architecture open path to collect and gather information and data about personnel and their performance metrics.</a:t>
            </a:r>
          </a:p>
          <a:p>
            <a:endParaRPr lang="en-US" dirty="0"/>
          </a:p>
        </p:txBody>
      </p:sp>
      <p:sp>
        <p:nvSpPr>
          <p:cNvPr id="4" name="Slide Number Placeholder 3"/>
          <p:cNvSpPr>
            <a:spLocks noGrp="1"/>
          </p:cNvSpPr>
          <p:nvPr>
            <p:ph type="sldNum" sz="quarter" idx="5"/>
          </p:nvPr>
        </p:nvSpPr>
        <p:spPr/>
        <p:txBody>
          <a:bodyPr/>
          <a:lstStyle/>
          <a:p>
            <a:fld id="{0136BB30-4C71-4D09-933A-B2F84F8C947D}" type="slidenum">
              <a:rPr lang="en-GB" smtClean="0"/>
              <a:t>7</a:t>
            </a:fld>
            <a:endParaRPr lang="en-GB"/>
          </a:p>
        </p:txBody>
      </p:sp>
    </p:spTree>
    <p:extLst>
      <p:ext uri="{BB962C8B-B14F-4D97-AF65-F5344CB8AC3E}">
        <p14:creationId xmlns:p14="http://schemas.microsoft.com/office/powerpoint/2010/main" val="4164909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34266-4D84-FEE9-283E-86AB66F6E0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E066D-402E-CC94-C8AA-1B8187617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24CBE-8C75-9416-9DCC-A1714BDAD8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 this slide we representing 5 tier architectural concept model where by collecting data from 3 base layers  collecting information and monitoring equipment, fundamental knowledges and procedure performing acts to build DT model  on forth layer and developing predicting risk layer on fifth. That architecture open path to collect and gather information and data about personnel and their performance metrics.</a:t>
            </a:r>
          </a:p>
          <a:p>
            <a:endParaRPr lang="en-US" dirty="0"/>
          </a:p>
        </p:txBody>
      </p:sp>
      <p:sp>
        <p:nvSpPr>
          <p:cNvPr id="4" name="Slide Number Placeholder 3">
            <a:extLst>
              <a:ext uri="{FF2B5EF4-FFF2-40B4-BE49-F238E27FC236}">
                <a16:creationId xmlns:a16="http://schemas.microsoft.com/office/drawing/2014/main" id="{7B3CA814-7964-56C9-E381-0FE07C74ADF2}"/>
              </a:ext>
            </a:extLst>
          </p:cNvPr>
          <p:cNvSpPr>
            <a:spLocks noGrp="1"/>
          </p:cNvSpPr>
          <p:nvPr>
            <p:ph type="sldNum" sz="quarter" idx="5"/>
          </p:nvPr>
        </p:nvSpPr>
        <p:spPr/>
        <p:txBody>
          <a:bodyPr/>
          <a:lstStyle/>
          <a:p>
            <a:fld id="{0136BB30-4C71-4D09-933A-B2F84F8C947D}" type="slidenum">
              <a:rPr lang="en-GB" smtClean="0"/>
              <a:t>8</a:t>
            </a:fld>
            <a:endParaRPr lang="en-GB"/>
          </a:p>
        </p:txBody>
      </p:sp>
    </p:spTree>
    <p:extLst>
      <p:ext uri="{BB962C8B-B14F-4D97-AF65-F5344CB8AC3E}">
        <p14:creationId xmlns:p14="http://schemas.microsoft.com/office/powerpoint/2010/main" val="24851810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Colleagues, This slide shows the architecture of the platform, which transforms disparate logs into a security management tool.</a:t>
            </a:r>
          </a:p>
          <a:p>
            <a:r>
              <a:rPr lang="en-US" dirty="0"/>
              <a:t>• Data Pipeline: We collect logs (VR, GHO, GSE), cleanse them during processing, create a digital profile of each employee and use AI to calculate risk scores and identify trends.</a:t>
            </a:r>
          </a:p>
          <a:p>
            <a:r>
              <a:rPr lang="en-US" dirty="0"/>
              <a:t>• Application: The output is a ready-to-use dashboard for management, which enables targeted staff training and dynamic recertification.</a:t>
            </a:r>
          </a:p>
          <a:p>
            <a:r>
              <a:rPr lang="en-US" dirty="0"/>
              <a:t>• Security (Governance Protocol): The end-to-end protocol shown at the bottom of the slide ensures data protection, </a:t>
            </a:r>
            <a:r>
              <a:rPr lang="en-US" dirty="0" err="1"/>
              <a:t>pseudonymisation</a:t>
            </a:r>
            <a:r>
              <a:rPr lang="en-US" dirty="0"/>
              <a:t> and mandatory human oversight at every stage</a:t>
            </a:r>
          </a:p>
        </p:txBody>
      </p:sp>
      <p:sp>
        <p:nvSpPr>
          <p:cNvPr id="4" name="Slide Number Placeholder 3"/>
          <p:cNvSpPr>
            <a:spLocks noGrp="1"/>
          </p:cNvSpPr>
          <p:nvPr>
            <p:ph type="sldNum" sz="quarter" idx="5"/>
          </p:nvPr>
        </p:nvSpPr>
        <p:spPr/>
        <p:txBody>
          <a:bodyPr/>
          <a:lstStyle/>
          <a:p>
            <a:fld id="{0136BB30-4C71-4D09-933A-B2F84F8C947D}" type="slidenum">
              <a:rPr lang="en-GB" smtClean="0"/>
              <a:t>9</a:t>
            </a:fld>
            <a:endParaRPr lang="en-GB"/>
          </a:p>
        </p:txBody>
      </p:sp>
    </p:spTree>
    <p:extLst>
      <p:ext uri="{BB962C8B-B14F-4D97-AF65-F5344CB8AC3E}">
        <p14:creationId xmlns:p14="http://schemas.microsoft.com/office/powerpoint/2010/main" val="4152638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36BB30-4C71-4D09-933A-B2F84F8C947D}" type="slidenum">
              <a:rPr lang="en-GB" smtClean="0"/>
              <a:t>10</a:t>
            </a:fld>
            <a:endParaRPr lang="en-GB"/>
          </a:p>
        </p:txBody>
      </p:sp>
    </p:spTree>
    <p:extLst>
      <p:ext uri="{BB962C8B-B14F-4D97-AF65-F5344CB8AC3E}">
        <p14:creationId xmlns:p14="http://schemas.microsoft.com/office/powerpoint/2010/main" val="3912898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logic regression model translates these variables into bounded highly interpretable probability of an adverse event, retaining the directional sign of coefficients so it makes easy to understand </a:t>
            </a:r>
          </a:p>
          <a:p>
            <a:r>
              <a:rPr lang="en-US" dirty="0"/>
              <a:t>Why </a:t>
            </a:r>
            <a:r>
              <a:rPr lang="en-US"/>
              <a:t>risk score is high </a:t>
            </a:r>
            <a:endParaRPr lang="en-US" dirty="0"/>
          </a:p>
        </p:txBody>
      </p:sp>
      <p:sp>
        <p:nvSpPr>
          <p:cNvPr id="4" name="Slide Number Placeholder 3"/>
          <p:cNvSpPr>
            <a:spLocks noGrp="1"/>
          </p:cNvSpPr>
          <p:nvPr>
            <p:ph type="sldNum" sz="quarter" idx="5"/>
          </p:nvPr>
        </p:nvSpPr>
        <p:spPr/>
        <p:txBody>
          <a:bodyPr/>
          <a:lstStyle/>
          <a:p>
            <a:fld id="{0136BB30-4C71-4D09-933A-B2F84F8C947D}" type="slidenum">
              <a:rPr lang="en-GB" smtClean="0"/>
              <a:t>11</a:t>
            </a:fld>
            <a:endParaRPr lang="en-GB"/>
          </a:p>
        </p:txBody>
      </p:sp>
    </p:spTree>
    <p:extLst>
      <p:ext uri="{BB962C8B-B14F-4D97-AF65-F5344CB8AC3E}">
        <p14:creationId xmlns:p14="http://schemas.microsoft.com/office/powerpoint/2010/main" val="878288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50D91-305C-66AA-20E5-4676F87E3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F4171-7246-255D-FDCD-7FE1EDE46D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304456-B776-5A3E-E787-7C962AE2107C}"/>
              </a:ext>
            </a:extLst>
          </p:cNvPr>
          <p:cNvSpPr>
            <a:spLocks noGrp="1"/>
          </p:cNvSpPr>
          <p:nvPr>
            <p:ph type="body" idx="1"/>
          </p:nvPr>
        </p:nvSpPr>
        <p:spPr/>
        <p:txBody>
          <a:bodyPr/>
          <a:lstStyle/>
          <a:p>
            <a:r>
              <a:rPr lang="en-US" dirty="0"/>
              <a:t>The logic regression model translates these variables into bounded highly interpretable probability of an adverse event, retaining the directional sign of coefficients so it makes easy to understand </a:t>
            </a:r>
          </a:p>
          <a:p>
            <a:r>
              <a:rPr lang="en-US" dirty="0"/>
              <a:t>Why </a:t>
            </a:r>
            <a:r>
              <a:rPr lang="en-US"/>
              <a:t>risk score is high </a:t>
            </a:r>
            <a:endParaRPr lang="en-US" dirty="0"/>
          </a:p>
        </p:txBody>
      </p:sp>
      <p:sp>
        <p:nvSpPr>
          <p:cNvPr id="4" name="Slide Number Placeholder 3">
            <a:extLst>
              <a:ext uri="{FF2B5EF4-FFF2-40B4-BE49-F238E27FC236}">
                <a16:creationId xmlns:a16="http://schemas.microsoft.com/office/drawing/2014/main" id="{916D2632-DBEB-1626-AAD0-E5CFE886B142}"/>
              </a:ext>
            </a:extLst>
          </p:cNvPr>
          <p:cNvSpPr>
            <a:spLocks noGrp="1"/>
          </p:cNvSpPr>
          <p:nvPr>
            <p:ph type="sldNum" sz="quarter" idx="5"/>
          </p:nvPr>
        </p:nvSpPr>
        <p:spPr/>
        <p:txBody>
          <a:bodyPr/>
          <a:lstStyle/>
          <a:p>
            <a:fld id="{0136BB30-4C71-4D09-933A-B2F84F8C947D}" type="slidenum">
              <a:rPr lang="en-GB" smtClean="0"/>
              <a:t>12</a:t>
            </a:fld>
            <a:endParaRPr lang="en-GB"/>
          </a:p>
        </p:txBody>
      </p:sp>
    </p:spTree>
    <p:extLst>
      <p:ext uri="{BB962C8B-B14F-4D97-AF65-F5344CB8AC3E}">
        <p14:creationId xmlns:p14="http://schemas.microsoft.com/office/powerpoint/2010/main" val="4102394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repress </a:t>
            </a:r>
            <a:r>
              <a:rPr lang="en-US" dirty="0" err="1"/>
              <a:t>ented</a:t>
            </a:r>
            <a:r>
              <a:rPr lang="en-US" dirty="0"/>
              <a:t> dashboard where collected data from different sources and translated it to a measurable entities. </a:t>
            </a:r>
          </a:p>
        </p:txBody>
      </p:sp>
      <p:sp>
        <p:nvSpPr>
          <p:cNvPr id="4" name="Slide Number Placeholder 3"/>
          <p:cNvSpPr>
            <a:spLocks noGrp="1"/>
          </p:cNvSpPr>
          <p:nvPr>
            <p:ph type="sldNum" sz="quarter" idx="5"/>
          </p:nvPr>
        </p:nvSpPr>
        <p:spPr/>
        <p:txBody>
          <a:bodyPr/>
          <a:lstStyle/>
          <a:p>
            <a:fld id="{0136BB30-4C71-4D09-933A-B2F84F8C947D}" type="slidenum">
              <a:rPr lang="en-GB" smtClean="0"/>
              <a:t>13</a:t>
            </a:fld>
            <a:endParaRPr lang="en-GB"/>
          </a:p>
        </p:txBody>
      </p:sp>
    </p:spTree>
    <p:extLst>
      <p:ext uri="{BB962C8B-B14F-4D97-AF65-F5344CB8AC3E}">
        <p14:creationId xmlns:p14="http://schemas.microsoft.com/office/powerpoint/2010/main" val="521593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results obtained using the model, it is possible to work in a targeted manner to address gaps in knowledge and develop an effective curriculum</a:t>
            </a:r>
          </a:p>
        </p:txBody>
      </p:sp>
      <p:sp>
        <p:nvSpPr>
          <p:cNvPr id="4" name="Slide Number Placeholder 3"/>
          <p:cNvSpPr>
            <a:spLocks noGrp="1"/>
          </p:cNvSpPr>
          <p:nvPr>
            <p:ph type="sldNum" sz="quarter" idx="5"/>
          </p:nvPr>
        </p:nvSpPr>
        <p:spPr/>
        <p:txBody>
          <a:bodyPr/>
          <a:lstStyle/>
          <a:p>
            <a:fld id="{0136BB30-4C71-4D09-933A-B2F84F8C947D}" type="slidenum">
              <a:rPr lang="en-GB" smtClean="0"/>
              <a:t>14</a:t>
            </a:fld>
            <a:endParaRPr lang="en-GB"/>
          </a:p>
        </p:txBody>
      </p:sp>
    </p:spTree>
    <p:extLst>
      <p:ext uri="{BB962C8B-B14F-4D97-AF65-F5344CB8AC3E}">
        <p14:creationId xmlns:p14="http://schemas.microsoft.com/office/powerpoint/2010/main" val="10327796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36BB30-4C71-4D09-933A-B2F84F8C947D}" type="slidenum">
              <a:rPr lang="en-GB" smtClean="0"/>
              <a:t>17</a:t>
            </a:fld>
            <a:endParaRPr lang="en-GB"/>
          </a:p>
        </p:txBody>
      </p:sp>
    </p:spTree>
    <p:extLst>
      <p:ext uri="{BB962C8B-B14F-4D97-AF65-F5344CB8AC3E}">
        <p14:creationId xmlns:p14="http://schemas.microsoft.com/office/powerpoint/2010/main" val="3857494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7200" b="0">
                <a:solidFill>
                  <a:schemeClr val="tx1">
                    <a:lumMod val="85000"/>
                    <a:lumOff val="15000"/>
                  </a:schemeClr>
                </a:solidFill>
              </a:defRPr>
            </a:lvl1pPr>
          </a:lstStyle>
          <a:p>
            <a:r>
              <a:rPr lang="en-US" dirty="0"/>
              <a:t>Paper Title</a:t>
            </a:r>
          </a:p>
        </p:txBody>
      </p:sp>
      <p:sp>
        <p:nvSpPr>
          <p:cNvPr id="3"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
        <p:nvSpPr>
          <p:cNvPr id="4" name="Date Placeholder 3"/>
          <p:cNvSpPr>
            <a:spLocks noGrp="1"/>
          </p:cNvSpPr>
          <p:nvPr>
            <p:ph type="dt" sz="half" idx="10"/>
          </p:nvPr>
        </p:nvSpPr>
        <p:spPr/>
        <p:txBody>
          <a:bodyPr/>
          <a:lstStyle/>
          <a:p>
            <a:fld id="{03F1FFC4-4BD7-4723-ABB8-1CA8FEEB2BEF}" type="datetime5">
              <a:rPr lang="en-GB" smtClean="0"/>
              <a:t>14-Oct-26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Affiliation</a:t>
            </a:r>
          </a:p>
        </p:txBody>
      </p:sp>
    </p:spTree>
    <p:extLst>
      <p:ext uri="{BB962C8B-B14F-4D97-AF65-F5344CB8AC3E}">
        <p14:creationId xmlns:p14="http://schemas.microsoft.com/office/powerpoint/2010/main" val="630265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564022"/>
            <a:ext cx="7543800" cy="3761090"/>
          </a:xfrm>
        </p:spPr>
        <p:txBody>
          <a:bodyPr anchor="b" anchorCtr="0">
            <a:normAutofit/>
          </a:bodyPr>
          <a:lstStyle>
            <a:lvl1pPr>
              <a:lnSpc>
                <a:spcPct val="85000"/>
              </a:lnSpc>
              <a:defRPr sz="6600" b="0">
                <a:solidFill>
                  <a:schemeClr val="tx1">
                    <a:lumMod val="85000"/>
                    <a:lumOff val="15000"/>
                  </a:schemeClr>
                </a:solidFill>
              </a:defRPr>
            </a:lvl1pPr>
          </a:lstStyle>
          <a:p>
            <a:r>
              <a:rPr lang="en-US" dirty="0"/>
              <a:t>Section title</a:t>
            </a:r>
          </a:p>
        </p:txBody>
      </p:sp>
      <p:sp>
        <p:nvSpPr>
          <p:cNvPr id="4" name="Date Placeholder 3"/>
          <p:cNvSpPr>
            <a:spLocks noGrp="1"/>
          </p:cNvSpPr>
          <p:nvPr>
            <p:ph type="dt" sz="half" idx="10"/>
          </p:nvPr>
        </p:nvSpPr>
        <p:spPr/>
        <p:txBody>
          <a:bodyPr/>
          <a:lstStyle/>
          <a:p>
            <a:fld id="{02EE4D8A-4AE0-44A1-A702-01B049E5D9F6}" type="datetime5">
              <a:rPr lang="en-GB" smtClean="0"/>
              <a:t>14-Oct-26</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1560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2960" y="1153682"/>
            <a:ext cx="7558004" cy="3059395"/>
          </a:xfrm>
        </p:spPr>
        <p:txBody>
          <a:bodyPr/>
          <a:lstStyle>
            <a:lvl1pPr>
              <a:defRPr/>
            </a:lvl1pPr>
          </a:lstStyle>
          <a:p>
            <a:r>
              <a:rPr lang="en-US" dirty="0"/>
              <a:t>Thank you wording</a:t>
            </a:r>
            <a:endParaRPr lang="en-GB" dirty="0"/>
          </a:p>
        </p:txBody>
      </p:sp>
      <p:sp>
        <p:nvSpPr>
          <p:cNvPr id="3" name="Date Placeholder 2"/>
          <p:cNvSpPr>
            <a:spLocks noGrp="1"/>
          </p:cNvSpPr>
          <p:nvPr>
            <p:ph type="dt" sz="half" idx="10"/>
          </p:nvPr>
        </p:nvSpPr>
        <p:spPr/>
        <p:txBody>
          <a:bodyPr/>
          <a:lstStyle/>
          <a:p>
            <a:fld id="{A1C2DCDB-9721-4878-BF58-3FBA6895CED8}" type="datetime5">
              <a:rPr lang="en-GB" smtClean="0"/>
              <a:t>14-Oct-26</a:t>
            </a:fld>
            <a:endParaRPr lang="en-GB" dirty="0"/>
          </a:p>
        </p:txBody>
      </p:sp>
      <p:sp>
        <p:nvSpPr>
          <p:cNvPr id="4" name="Text Placeholder 2"/>
          <p:cNvSpPr>
            <a:spLocks noGrp="1"/>
          </p:cNvSpPr>
          <p:nvPr>
            <p:ph type="body" idx="11" hasCustomPrompt="1"/>
          </p:nvPr>
        </p:nvSpPr>
        <p:spPr>
          <a:xfrm>
            <a:off x="837164" y="4956390"/>
            <a:ext cx="7543800" cy="1143220"/>
          </a:xfrm>
          <a:prstGeom prst="rect">
            <a:avLst/>
          </a:prstGeom>
        </p:spPr>
        <p:txBody>
          <a:bodyPr lIns="91440" rIns="91440" anchor="t" anchorCtr="0">
            <a:normAutofit/>
          </a:bodyPr>
          <a:lstStyle>
            <a:lvl1pPr marL="0" indent="0" algn="r">
              <a:buNone/>
              <a:defRPr sz="18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Contact information</a:t>
            </a:r>
          </a:p>
        </p:txBody>
      </p:sp>
      <p:sp>
        <p:nvSpPr>
          <p:cNvPr id="5" name="Text Placeholder 2"/>
          <p:cNvSpPr>
            <a:spLocks noGrp="1"/>
          </p:cNvSpPr>
          <p:nvPr>
            <p:ph type="body" idx="1" hasCustomPrompt="1"/>
          </p:nvPr>
        </p:nvSpPr>
        <p:spPr>
          <a:xfrm>
            <a:off x="822960" y="4453128"/>
            <a:ext cx="7543800" cy="375246"/>
          </a:xfrm>
          <a:prstGeom prst="rect">
            <a:avLst/>
          </a:prstGeom>
        </p:spPr>
        <p:txBody>
          <a:bodyPr lIns="91440" rIns="91440" anchor="t" anchorCtr="0">
            <a:normAutofit/>
          </a:bodyPr>
          <a:lstStyle>
            <a:lvl1pPr marL="0" indent="0" algn="r">
              <a:buNone/>
              <a:defRPr sz="2400" cap="none"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Author name(s)</a:t>
            </a:r>
          </a:p>
        </p:txBody>
      </p:sp>
    </p:spTree>
    <p:extLst>
      <p:ext uri="{BB962C8B-B14F-4D97-AF65-F5344CB8AC3E}">
        <p14:creationId xmlns:p14="http://schemas.microsoft.com/office/powerpoint/2010/main" val="4088532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 y="346273"/>
            <a:ext cx="9143998" cy="986719"/>
          </a:xfrm>
        </p:spPr>
        <p:txBody>
          <a:bodyPr/>
          <a:lstStyle>
            <a:lvl1pPr marL="111125" indent="0">
              <a:defRPr/>
            </a:lvl1pPr>
          </a:lstStyle>
          <a:p>
            <a:r>
              <a:rPr lang="en-US" dirty="0"/>
              <a:t>Click to edit title</a:t>
            </a:r>
          </a:p>
        </p:txBody>
      </p:sp>
      <p:sp>
        <p:nvSpPr>
          <p:cNvPr id="3" name="Content Placeholder 2"/>
          <p:cNvSpPr>
            <a:spLocks noGrp="1"/>
          </p:cNvSpPr>
          <p:nvPr>
            <p:ph idx="1"/>
          </p:nvPr>
        </p:nvSpPr>
        <p:spPr/>
        <p:txBody>
          <a:bodyPr>
            <a:normAutofit/>
          </a:bodyPr>
          <a:lstStyle>
            <a:lvl1pPr marL="230188" indent="-230188">
              <a:lnSpc>
                <a:spcPct val="150000"/>
              </a:lnSpc>
              <a:buFont typeface="Arial" panose="020B0604020202020204" pitchFamily="34" charset="0"/>
              <a:buChar char="•"/>
              <a:defRPr sz="2400"/>
            </a:lvl1pPr>
            <a:lvl2pPr marL="461963" indent="-231775">
              <a:lnSpc>
                <a:spcPct val="150000"/>
              </a:lnSpc>
              <a:buClr>
                <a:schemeClr val="accent2"/>
              </a:buClr>
              <a:defRPr sz="2400"/>
            </a:lvl2pPr>
            <a:lvl3pPr marL="684213" indent="-225425">
              <a:lnSpc>
                <a:spcPct val="150000"/>
              </a:lnSpc>
              <a:buClr>
                <a:schemeClr val="accent2"/>
              </a:buClr>
              <a:defRPr sz="2400"/>
            </a:lvl3pPr>
            <a:lvl4pPr marL="914400" indent="-230188">
              <a:lnSpc>
                <a:spcPct val="150000"/>
              </a:lnSpc>
              <a:buClr>
                <a:schemeClr val="accent2"/>
              </a:buClr>
              <a:defRPr sz="2400"/>
            </a:lvl4pPr>
            <a:lvl5pPr marL="1144588" indent="-230188">
              <a:lnSpc>
                <a:spcPct val="150000"/>
              </a:lnSpc>
              <a:buClr>
                <a:schemeClr val="accent2"/>
              </a:buClr>
              <a:defRPr sz="2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14-Oct-26</a:t>
            </a:fld>
            <a:endParaRPr lang="en-GB" dirty="0"/>
          </a:p>
        </p:txBody>
      </p:sp>
      <p:sp>
        <p:nvSpPr>
          <p:cNvPr id="11"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4"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
        <p:nvSpPr>
          <p:cNvPr id="15" name="Text Placeholder 13"/>
          <p:cNvSpPr>
            <a:spLocks noGrp="1"/>
          </p:cNvSpPr>
          <p:nvPr>
            <p:ph type="body" sz="quarter" idx="14" hasCustomPrompt="1"/>
          </p:nvPr>
        </p:nvSpPr>
        <p:spPr>
          <a:xfrm>
            <a:off x="1" y="2203"/>
            <a:ext cx="4571999"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6" name="Text Placeholder 13"/>
          <p:cNvSpPr>
            <a:spLocks noGrp="1"/>
          </p:cNvSpPr>
          <p:nvPr>
            <p:ph type="body" sz="quarter" idx="15" hasCustomPrompt="1"/>
          </p:nvPr>
        </p:nvSpPr>
        <p:spPr>
          <a:xfrm>
            <a:off x="4572000" y="2203"/>
            <a:ext cx="4571999"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Tree>
    <p:extLst>
      <p:ext uri="{BB962C8B-B14F-4D97-AF65-F5344CB8AC3E}">
        <p14:creationId xmlns:p14="http://schemas.microsoft.com/office/powerpoint/2010/main" val="123919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title</a:t>
            </a:r>
          </a:p>
        </p:txBody>
      </p:sp>
      <p:sp>
        <p:nvSpPr>
          <p:cNvPr id="9"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0"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1"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14-Oct-26</a:t>
            </a:fld>
            <a:endParaRPr lang="en-GB" dirty="0"/>
          </a:p>
        </p:txBody>
      </p:sp>
      <p:sp>
        <p:nvSpPr>
          <p:cNvPr id="12"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8"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3880406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1021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80531" y="1463040"/>
            <a:ext cx="4206240" cy="502920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itle 1"/>
          <p:cNvSpPr>
            <a:spLocks noGrp="1"/>
          </p:cNvSpPr>
          <p:nvPr>
            <p:ph type="title" hasCustomPrompt="1"/>
          </p:nvPr>
        </p:nvSpPr>
        <p:spPr>
          <a:xfrm>
            <a:off x="1" y="260966"/>
            <a:ext cx="9143998" cy="986719"/>
          </a:xfrm>
        </p:spPr>
        <p:txBody>
          <a:bodyPr/>
          <a:lstStyle/>
          <a:p>
            <a:r>
              <a:rPr lang="en-US" dirty="0"/>
              <a:t>Click to edit title</a:t>
            </a:r>
          </a:p>
        </p:txBody>
      </p:sp>
      <p:sp>
        <p:nvSpPr>
          <p:cNvPr id="14" name="Text Placeholder 13"/>
          <p:cNvSpPr>
            <a:spLocks noGrp="1"/>
          </p:cNvSpPr>
          <p:nvPr>
            <p:ph type="body" sz="quarter" idx="14" hasCustomPrompt="1"/>
          </p:nvPr>
        </p:nvSpPr>
        <p:spPr>
          <a:xfrm>
            <a:off x="2" y="2203"/>
            <a:ext cx="4571998" cy="258763"/>
          </a:xfrm>
        </p:spPr>
        <p:txBody>
          <a:bodyPr anchor="ctr" anchorCtr="0">
            <a:noAutofit/>
          </a:bodyPr>
          <a:lstStyle>
            <a:lvl1pPr marL="222250" indent="0" algn="l">
              <a:lnSpc>
                <a:spcPct val="100000"/>
              </a:lnSpc>
              <a:buNone/>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Presentation section</a:t>
            </a:r>
            <a:endParaRPr lang="en-GB" dirty="0"/>
          </a:p>
        </p:txBody>
      </p:sp>
      <p:sp>
        <p:nvSpPr>
          <p:cNvPr id="15" name="Text Placeholder 13"/>
          <p:cNvSpPr>
            <a:spLocks noGrp="1"/>
          </p:cNvSpPr>
          <p:nvPr>
            <p:ph type="body" sz="quarter" idx="15" hasCustomPrompt="1"/>
          </p:nvPr>
        </p:nvSpPr>
        <p:spPr>
          <a:xfrm>
            <a:off x="4572001" y="2203"/>
            <a:ext cx="4571998" cy="258763"/>
          </a:xfrm>
        </p:spPr>
        <p:txBody>
          <a:bodyPr anchor="ctr" anchorCtr="0">
            <a:noAutofit/>
          </a:bodyPr>
          <a:lstStyle>
            <a:lvl1pPr marL="222250" indent="0" algn="l">
              <a:lnSpc>
                <a:spcPct val="100000"/>
              </a:lnSpc>
              <a:buNone/>
              <a:defRPr sz="1300" baseline="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Short paper title</a:t>
            </a:r>
            <a:endParaRPr lang="en-GB" dirty="0"/>
          </a:p>
        </p:txBody>
      </p:sp>
      <p:sp>
        <p:nvSpPr>
          <p:cNvPr id="16" name="Date Placeholder 10"/>
          <p:cNvSpPr>
            <a:spLocks noGrp="1"/>
          </p:cNvSpPr>
          <p:nvPr>
            <p:ph type="dt" sz="half" idx="10"/>
          </p:nvPr>
        </p:nvSpPr>
        <p:spPr>
          <a:xfrm>
            <a:off x="4082" y="6597052"/>
            <a:ext cx="1097280" cy="259435"/>
          </a:xfrm>
        </p:spPr>
        <p:txBody>
          <a:bodyPr/>
          <a:lstStyle>
            <a:lvl1pPr>
              <a:defRPr sz="1300"/>
            </a:lvl1pPr>
          </a:lstStyle>
          <a:p>
            <a:fld id="{CCC9EF8E-048C-4334-AD80-D83F6C532D96}" type="datetime5">
              <a:rPr lang="en-GB" smtClean="0"/>
              <a:t>14-Oct-26</a:t>
            </a:fld>
            <a:endParaRPr lang="en-GB" dirty="0"/>
          </a:p>
        </p:txBody>
      </p:sp>
      <p:sp>
        <p:nvSpPr>
          <p:cNvPr id="17" name="Slide Number Placeholder 12"/>
          <p:cNvSpPr>
            <a:spLocks noGrp="1"/>
          </p:cNvSpPr>
          <p:nvPr>
            <p:ph type="sldNum" sz="quarter" idx="12"/>
          </p:nvPr>
        </p:nvSpPr>
        <p:spPr>
          <a:xfrm>
            <a:off x="8545794" y="6597052"/>
            <a:ext cx="598206" cy="259435"/>
          </a:xfrm>
        </p:spPr>
        <p:txBody>
          <a:bodyPr/>
          <a:lstStyle>
            <a:lvl1pPr>
              <a:defRPr sz="2000" b="1"/>
            </a:lvl1pPr>
          </a:lstStyle>
          <a:p>
            <a:fld id="{CC7D8618-F20C-406E-B464-04F15D14577A}" type="slidenum">
              <a:rPr lang="en-GB" smtClean="0"/>
              <a:pPr/>
              <a:t>‹#›</a:t>
            </a:fld>
            <a:endParaRPr lang="en-GB" dirty="0"/>
          </a:p>
        </p:txBody>
      </p:sp>
      <p:sp>
        <p:nvSpPr>
          <p:cNvPr id="10" name="Text Placeholder 13"/>
          <p:cNvSpPr>
            <a:spLocks noGrp="1"/>
          </p:cNvSpPr>
          <p:nvPr>
            <p:ph type="body" sz="quarter" idx="13" hasCustomPrompt="1"/>
          </p:nvPr>
        </p:nvSpPr>
        <p:spPr>
          <a:xfrm>
            <a:off x="1116602" y="6597962"/>
            <a:ext cx="3395577" cy="258763"/>
          </a:xfrm>
        </p:spPr>
        <p:txBody>
          <a:bodyPr anchor="ctr" anchorCtr="0">
            <a:noAutofit/>
          </a:bodyPr>
          <a:lstStyle>
            <a:lvl1pPr marL="222250" indent="0" algn="r">
              <a:lnSpc>
                <a:spcPct val="100000"/>
              </a:lnSpc>
              <a:buNone/>
              <a:tabLst>
                <a:tab pos="230188" algn="l"/>
              </a:tabLst>
              <a:defRPr sz="1300">
                <a:solidFill>
                  <a:schemeClr val="bg1"/>
                </a:solidFill>
              </a:defRPr>
            </a:lvl1pPr>
            <a:lvl2pPr>
              <a:defRPr sz="1300">
                <a:solidFill>
                  <a:schemeClr val="bg1"/>
                </a:solidFill>
              </a:defRPr>
            </a:lvl2pPr>
            <a:lvl3pPr>
              <a:defRPr sz="1300">
                <a:solidFill>
                  <a:schemeClr val="bg1"/>
                </a:solidFill>
              </a:defRPr>
            </a:lvl3pPr>
            <a:lvl4pPr>
              <a:defRPr sz="1300">
                <a:solidFill>
                  <a:schemeClr val="bg1"/>
                </a:solidFill>
              </a:defRPr>
            </a:lvl4pPr>
            <a:lvl5pPr>
              <a:defRPr sz="1300">
                <a:solidFill>
                  <a:schemeClr val="bg1"/>
                </a:solidFill>
              </a:defRPr>
            </a:lvl5pPr>
          </a:lstStyle>
          <a:p>
            <a:pPr lvl="0"/>
            <a:r>
              <a:rPr lang="en-US" dirty="0"/>
              <a:t>Author name(s)</a:t>
            </a:r>
            <a:endParaRPr lang="en-GB" dirty="0"/>
          </a:p>
        </p:txBody>
      </p:sp>
    </p:spTree>
    <p:extLst>
      <p:ext uri="{BB962C8B-B14F-4D97-AF65-F5344CB8AC3E}">
        <p14:creationId xmlns:p14="http://schemas.microsoft.com/office/powerpoint/2010/main" val="41386076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21"/>
          <p:cNvSpPr/>
          <p:nvPr userDrawn="1"/>
        </p:nvSpPr>
        <p:spPr>
          <a:xfrm>
            <a:off x="4568390" y="6606655"/>
            <a:ext cx="4575609" cy="2521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p:cNvSpPr/>
          <p:nvPr/>
        </p:nvSpPr>
        <p:spPr>
          <a:xfrm>
            <a:off x="1" y="6605899"/>
            <a:ext cx="4568390" cy="252101"/>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 y="286604"/>
            <a:ext cx="9143998" cy="986719"/>
          </a:xfrm>
          <a:prstGeom prst="rect">
            <a:avLst/>
          </a:prstGeom>
        </p:spPr>
        <p:txBody>
          <a:bodyPr vert="horz" lIns="91440" tIns="45720" rIns="91440" bIns="45720" rtlCol="0" anchor="b">
            <a:normAutofit/>
          </a:bodyPr>
          <a:lstStyle/>
          <a:p>
            <a:r>
              <a:rPr lang="en-US" dirty="0"/>
              <a:t>Click to edit Master title style</a:t>
            </a:r>
          </a:p>
        </p:txBody>
      </p:sp>
      <p:sp>
        <p:nvSpPr>
          <p:cNvPr id="4" name="Date Placeholder 3"/>
          <p:cNvSpPr>
            <a:spLocks noGrp="1"/>
          </p:cNvSpPr>
          <p:nvPr>
            <p:ph type="dt" sz="half" idx="2"/>
          </p:nvPr>
        </p:nvSpPr>
        <p:spPr>
          <a:xfrm>
            <a:off x="-2368" y="6602872"/>
            <a:ext cx="1113322" cy="246841"/>
          </a:xfrm>
          <a:prstGeom prst="rect">
            <a:avLst/>
          </a:prstGeom>
        </p:spPr>
        <p:txBody>
          <a:bodyPr vert="horz" lIns="91440" tIns="45720" rIns="91440" bIns="45720" rtlCol="0" anchor="ctr"/>
          <a:lstStyle>
            <a:lvl1pPr algn="l">
              <a:defRPr sz="1300">
                <a:solidFill>
                  <a:srgbClr val="FFFFFF"/>
                </a:solidFill>
              </a:defRPr>
            </a:lvl1pPr>
          </a:lstStyle>
          <a:p>
            <a:fld id="{66BE9E39-D550-4951-9818-55D401126FCD}" type="datetime5">
              <a:rPr lang="en-GB" smtClean="0"/>
              <a:t>14-Oct-26</a:t>
            </a:fld>
            <a:endParaRPr lang="en-GB" dirty="0"/>
          </a:p>
        </p:txBody>
      </p:sp>
      <p:sp>
        <p:nvSpPr>
          <p:cNvPr id="14" name="Text Placeholder 14"/>
          <p:cNvSpPr txBox="1">
            <a:spLocks/>
          </p:cNvSpPr>
          <p:nvPr userDrawn="1"/>
        </p:nvSpPr>
        <p:spPr>
          <a:xfrm>
            <a:off x="4568391" y="6602872"/>
            <a:ext cx="4575609" cy="255128"/>
          </a:xfrm>
          <a:prstGeom prst="rect">
            <a:avLst/>
          </a:prstGeom>
        </p:spPr>
        <p:txBody>
          <a:bodyPr anchor="ctr" anchorCtr="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b="0" i="0" kern="1200" dirty="0">
                <a:solidFill>
                  <a:schemeClr val="bg1"/>
                </a:solidFill>
                <a:effectLst/>
                <a:latin typeface="+mn-lt"/>
                <a:ea typeface="+mn-ea"/>
                <a:cs typeface="+mn-cs"/>
              </a:rPr>
              <a:t>Reliability and Statistics in Transportation and Communication</a:t>
            </a:r>
            <a:endParaRPr lang="en-GB" sz="1300" dirty="0"/>
          </a:p>
        </p:txBody>
      </p:sp>
      <p:sp>
        <p:nvSpPr>
          <p:cNvPr id="21" name="Text Placeholder 14"/>
          <p:cNvSpPr txBox="1">
            <a:spLocks/>
          </p:cNvSpPr>
          <p:nvPr userDrawn="1"/>
        </p:nvSpPr>
        <p:spPr>
          <a:xfrm>
            <a:off x="1110954" y="6602872"/>
            <a:ext cx="3457437" cy="253615"/>
          </a:xfrm>
          <a:prstGeom prst="rect">
            <a:avLst/>
          </a:prstGeom>
        </p:spPr>
        <p:txBody>
          <a:bodyPr anchor="ctr" anchorCtr="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dirty="0"/>
              <a:t>Riga,</a:t>
            </a:r>
            <a:r>
              <a:rPr lang="en-US" baseline="0" dirty="0"/>
              <a:t> Latvia</a:t>
            </a:r>
            <a:endParaRPr lang="en-GB" dirty="0"/>
          </a:p>
        </p:txBody>
      </p:sp>
    </p:spTree>
    <p:extLst>
      <p:ext uri="{BB962C8B-B14F-4D97-AF65-F5344CB8AC3E}">
        <p14:creationId xmlns:p14="http://schemas.microsoft.com/office/powerpoint/2010/main" val="3823026427"/>
      </p:ext>
    </p:extLst>
  </p:cSld>
  <p:clrMap bg1="lt1" tx1="dk1" bg2="lt2" tx2="dk2" accent1="accent1" accent2="accent2" accent3="accent3" accent4="accent4" accent5="accent5" accent6="accent6" hlink="hlink" folHlink="folHlink"/>
  <p:sldLayoutIdLst>
    <p:sldLayoutId id="2147483729" r:id="rId1"/>
    <p:sldLayoutId id="2147483731" r:id="rId2"/>
    <p:sldLayoutId id="2147483730" r:id="rId3"/>
  </p:sldLayoutIdLst>
  <p:hf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4568391" y="6601968"/>
            <a:ext cx="457931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p:cNvSpPr/>
          <p:nvPr userDrawn="1"/>
        </p:nvSpPr>
        <p:spPr>
          <a:xfrm>
            <a:off x="1" y="6601968"/>
            <a:ext cx="456839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 y="329031"/>
            <a:ext cx="9143998" cy="1012659"/>
          </a:xfrm>
          <a:prstGeom prst="rect">
            <a:avLst/>
          </a:prstGeom>
        </p:spPr>
        <p:txBody>
          <a:bodyPr vert="horz" lIns="91440" tIns="45720" rIns="91440" bIns="45720" rtlCol="0" anchor="t" anchorCtr="0">
            <a:normAutofit/>
          </a:bodyPr>
          <a:lstStyle/>
          <a:p>
            <a:r>
              <a:rPr lang="en-US" dirty="0"/>
              <a:t>Click to edit title</a:t>
            </a:r>
          </a:p>
        </p:txBody>
      </p:sp>
      <p:sp>
        <p:nvSpPr>
          <p:cNvPr id="3" name="Text Placeholder 2"/>
          <p:cNvSpPr>
            <a:spLocks noGrp="1"/>
          </p:cNvSpPr>
          <p:nvPr>
            <p:ph type="body" idx="1"/>
          </p:nvPr>
        </p:nvSpPr>
        <p:spPr>
          <a:xfrm>
            <a:off x="276027" y="1418301"/>
            <a:ext cx="8568869" cy="5033773"/>
          </a:xfrm>
          <a:prstGeom prst="rect">
            <a:avLst/>
          </a:prstGeom>
        </p:spPr>
        <p:txBody>
          <a:bodyPr vert="horz" lIns="0" tIns="45720" rIns="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6601968"/>
            <a:ext cx="1097280" cy="248412"/>
          </a:xfrm>
          <a:prstGeom prst="rect">
            <a:avLst/>
          </a:prstGeom>
        </p:spPr>
        <p:txBody>
          <a:bodyPr vert="horz" lIns="91440" tIns="45720" rIns="91440" bIns="45720" rtlCol="0" anchor="ctr"/>
          <a:lstStyle>
            <a:lvl1pPr algn="l">
              <a:defRPr sz="1300">
                <a:solidFill>
                  <a:srgbClr val="FFFFFF"/>
                </a:solidFill>
              </a:defRPr>
            </a:lvl1pPr>
          </a:lstStyle>
          <a:p>
            <a:fld id="{8AEAAFD9-E057-47C0-9571-8C4815721903}" type="datetime5">
              <a:rPr lang="en-GB" smtClean="0"/>
              <a:t>14-Oct-26</a:t>
            </a:fld>
            <a:endParaRPr lang="en-GB" dirty="0"/>
          </a:p>
        </p:txBody>
      </p:sp>
      <p:sp>
        <p:nvSpPr>
          <p:cNvPr id="6" name="Slide Number Placeholder 5"/>
          <p:cNvSpPr>
            <a:spLocks noGrp="1"/>
          </p:cNvSpPr>
          <p:nvPr>
            <p:ph type="sldNum" sz="quarter" idx="4"/>
          </p:nvPr>
        </p:nvSpPr>
        <p:spPr>
          <a:xfrm>
            <a:off x="8534825" y="6601968"/>
            <a:ext cx="598206" cy="248412"/>
          </a:xfrm>
          <a:prstGeom prst="rect">
            <a:avLst/>
          </a:prstGeom>
        </p:spPr>
        <p:txBody>
          <a:bodyPr vert="horz" lIns="91440" tIns="45720" rIns="91440" bIns="45720" rtlCol="0" anchor="ctr"/>
          <a:lstStyle>
            <a:lvl1pPr algn="r">
              <a:defRPr sz="2000" b="1">
                <a:solidFill>
                  <a:srgbClr val="FFFFFF"/>
                </a:solidFill>
              </a:defRPr>
            </a:lvl1pPr>
          </a:lstStyle>
          <a:p>
            <a:fld id="{CC7D8618-F20C-406E-B464-04F15D14577A}" type="slidenum">
              <a:rPr lang="en-GB" smtClean="0"/>
              <a:pPr/>
              <a:t>‹#›</a:t>
            </a:fld>
            <a:endParaRPr lang="en-GB" dirty="0"/>
          </a:p>
        </p:txBody>
      </p:sp>
      <p:sp>
        <p:nvSpPr>
          <p:cNvPr id="14" name="Text Placeholder 14"/>
          <p:cNvSpPr txBox="1">
            <a:spLocks/>
          </p:cNvSpPr>
          <p:nvPr userDrawn="1"/>
        </p:nvSpPr>
        <p:spPr>
          <a:xfrm>
            <a:off x="4568391" y="6601968"/>
            <a:ext cx="3951765" cy="256032"/>
          </a:xfrm>
          <a:prstGeom prst="rect">
            <a:avLst/>
          </a:prstGeom>
        </p:spPr>
        <p:txBody>
          <a:bodyPr anchor="ctr" anchorCtr="0">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1400" kern="1200">
                <a:solidFill>
                  <a:schemeClr val="bg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r"/>
            <a:r>
              <a:rPr lang="en-US" sz="1300" dirty="0" err="1"/>
              <a:t>RelStat</a:t>
            </a:r>
            <a:r>
              <a:rPr lang="en-US" sz="1300" dirty="0"/>
              <a:t>,</a:t>
            </a:r>
            <a:r>
              <a:rPr lang="en-US" sz="1300" baseline="0" dirty="0"/>
              <a:t> Riga, Latvia</a:t>
            </a:r>
            <a:endParaRPr lang="en-GB" sz="1300" dirty="0"/>
          </a:p>
        </p:txBody>
      </p:sp>
      <p:sp>
        <p:nvSpPr>
          <p:cNvPr id="16" name="Rectangle 15"/>
          <p:cNvSpPr/>
          <p:nvPr userDrawn="1"/>
        </p:nvSpPr>
        <p:spPr>
          <a:xfrm>
            <a:off x="0" y="0"/>
            <a:ext cx="4572000" cy="256032"/>
          </a:xfrm>
          <a:prstGeom prst="rect">
            <a:avLst/>
          </a:prstGeom>
          <a:solidFill>
            <a:srgbClr val="21467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p:cNvSpPr/>
          <p:nvPr userDrawn="1"/>
        </p:nvSpPr>
        <p:spPr>
          <a:xfrm>
            <a:off x="4572000" y="0"/>
            <a:ext cx="4572000" cy="2560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48536158"/>
      </p:ext>
    </p:extLst>
  </p:cSld>
  <p:clrMap bg1="lt1" tx1="dk1" bg2="lt2" tx2="dk2" accent1="accent1" accent2="accent2" accent3="accent3" accent4="accent4" accent5="accent5" accent6="accent6" hlink="hlink" folHlink="folHlink"/>
  <p:sldLayoutIdLst>
    <p:sldLayoutId id="2147483708" r:id="rId1"/>
    <p:sldLayoutId id="2147483712" r:id="rId2"/>
    <p:sldLayoutId id="2147483710" r:id="rId3"/>
  </p:sldLayoutIdLst>
  <p:hf hdr="0" ftr="0"/>
  <p:txStyles>
    <p:titleStyle>
      <a:lvl1pPr marL="111125" indent="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230188" indent="-230188" algn="l" defTabSz="914400" rtl="0" eaLnBrk="1" latinLnBrk="0" hangingPunct="1">
        <a:lnSpc>
          <a:spcPct val="150000"/>
        </a:lnSpc>
        <a:spcBef>
          <a:spcPts val="1200"/>
        </a:spcBef>
        <a:spcAft>
          <a:spcPts val="200"/>
        </a:spcAft>
        <a:buClr>
          <a:schemeClr val="accent1"/>
        </a:buClr>
        <a:buSzPct val="100000"/>
        <a:buFont typeface="Arial" panose="020B0604020202020204" pitchFamily="34" charset="0"/>
        <a:buChar char="•"/>
        <a:tabLst>
          <a:tab pos="230188" algn="l"/>
          <a:tab pos="631825" algn="l"/>
        </a:tabLst>
        <a:defRPr sz="2400" kern="1200">
          <a:solidFill>
            <a:schemeClr val="tx1">
              <a:lumMod val="75000"/>
              <a:lumOff val="25000"/>
            </a:schemeClr>
          </a:solidFill>
          <a:latin typeface="+mn-lt"/>
          <a:ea typeface="+mn-ea"/>
          <a:cs typeface="+mn-cs"/>
        </a:defRPr>
      </a:lvl1pPr>
      <a:lvl2pPr marL="461963" indent="-231775" algn="l" defTabSz="914400" rtl="0" eaLnBrk="1" latinLnBrk="0" hangingPunct="1">
        <a:lnSpc>
          <a:spcPct val="150000"/>
        </a:lnSpc>
        <a:spcBef>
          <a:spcPts val="200"/>
        </a:spcBef>
        <a:spcAft>
          <a:spcPts val="400"/>
        </a:spcAft>
        <a:buClr>
          <a:schemeClr val="accent1"/>
        </a:buClr>
        <a:buFont typeface="Calibri" pitchFamily="34" charset="0"/>
        <a:buChar char="◦"/>
        <a:tabLst>
          <a:tab pos="461963" algn="l"/>
        </a:tabLst>
        <a:defRPr sz="2400" kern="1200">
          <a:solidFill>
            <a:schemeClr val="tx1">
              <a:lumMod val="75000"/>
              <a:lumOff val="25000"/>
            </a:schemeClr>
          </a:solidFill>
          <a:latin typeface="+mn-lt"/>
          <a:ea typeface="+mn-ea"/>
          <a:cs typeface="+mn-cs"/>
        </a:defRPr>
      </a:lvl2pPr>
      <a:lvl3pPr marL="684213" indent="-222250"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3pPr>
      <a:lvl4pPr marL="914400"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4pPr>
      <a:lvl5pPr marL="1144588" indent="-230188" algn="l" defTabSz="914400" rtl="0" eaLnBrk="1" latinLnBrk="0" hangingPunct="1">
        <a:lnSpc>
          <a:spcPct val="15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p:cNvSpPr>
            <a:spLocks noGrp="1"/>
          </p:cNvSpPr>
          <p:nvPr>
            <p:ph type="title"/>
          </p:nvPr>
        </p:nvSpPr>
        <p:spPr>
          <a:xfrm>
            <a:off x="950053" y="414995"/>
            <a:ext cx="7543800" cy="2946678"/>
          </a:xfrm>
        </p:spPr>
        <p:txBody>
          <a:bodyPr>
            <a:normAutofit/>
          </a:bodyPr>
          <a:lstStyle/>
          <a:p>
            <a:r>
              <a:rPr lang="en-GB" sz="4800" dirty="0"/>
              <a:t>Human-</a:t>
            </a:r>
            <a:r>
              <a:rPr lang="en-GB" sz="4800" dirty="0" err="1"/>
              <a:t>Centered</a:t>
            </a:r>
            <a:r>
              <a:rPr lang="en-GB" sz="4800" dirty="0"/>
              <a:t> Digital Twin for Dynamic Competency Management in Airport Ground Handling Operations</a:t>
            </a:r>
          </a:p>
        </p:txBody>
      </p:sp>
      <p:sp>
        <p:nvSpPr>
          <p:cNvPr id="20" name="Text Placeholder 19"/>
          <p:cNvSpPr>
            <a:spLocks noGrp="1"/>
          </p:cNvSpPr>
          <p:nvPr>
            <p:ph type="body" idx="1"/>
          </p:nvPr>
        </p:nvSpPr>
        <p:spPr>
          <a:xfrm>
            <a:off x="950053" y="3774850"/>
            <a:ext cx="7543800" cy="375246"/>
          </a:xfrm>
        </p:spPr>
        <p:txBody>
          <a:bodyPr>
            <a:normAutofit fontScale="92500" lnSpcReduction="10000"/>
          </a:bodyPr>
          <a:lstStyle/>
          <a:p>
            <a:r>
              <a:rPr lang="en-GB" dirty="0"/>
              <a:t>Rustam Togambayev &amp; Iyad Alomar</a:t>
            </a:r>
          </a:p>
        </p:txBody>
      </p:sp>
      <p:sp>
        <p:nvSpPr>
          <p:cNvPr id="4" name="Date Placeholder 3"/>
          <p:cNvSpPr>
            <a:spLocks noGrp="1"/>
          </p:cNvSpPr>
          <p:nvPr>
            <p:ph type="dt" sz="half" idx="10"/>
          </p:nvPr>
        </p:nvSpPr>
        <p:spPr/>
        <p:txBody>
          <a:bodyPr/>
          <a:lstStyle/>
          <a:p>
            <a:fld id="{E2CA3675-AFAB-48CB-861B-E0B3C82FC417}" type="datetime5">
              <a:rPr lang="en-GB" smtClean="0"/>
              <a:t>14-Oct-26</a:t>
            </a:fld>
            <a:endParaRPr lang="en-GB" dirty="0"/>
          </a:p>
        </p:txBody>
      </p:sp>
      <p:sp>
        <p:nvSpPr>
          <p:cNvPr id="21" name="Text Placeholder 20"/>
          <p:cNvSpPr>
            <a:spLocks noGrp="1"/>
          </p:cNvSpPr>
          <p:nvPr>
            <p:ph type="body" idx="11"/>
          </p:nvPr>
        </p:nvSpPr>
        <p:spPr>
          <a:xfrm>
            <a:off x="950053" y="4950895"/>
            <a:ext cx="7543800" cy="1143220"/>
          </a:xfrm>
        </p:spPr>
        <p:txBody>
          <a:bodyPr/>
          <a:lstStyle/>
          <a:p>
            <a:r>
              <a:rPr lang="en-GB" dirty="0"/>
              <a:t>Transport and Telecommunication Institute</a:t>
            </a:r>
          </a:p>
        </p:txBody>
      </p:sp>
    </p:spTree>
    <p:extLst>
      <p:ext uri="{BB962C8B-B14F-4D97-AF65-F5344CB8AC3E}">
        <p14:creationId xmlns:p14="http://schemas.microsoft.com/office/powerpoint/2010/main" val="1804113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t>THE BLIND SPOT OF STATIC CERTIFICATION</a:t>
            </a:r>
            <a:br>
              <a:rPr lang="en-US" b="1" dirty="0"/>
            </a:br>
            <a:endParaRPr lang="en-GB" b="1" dirty="0"/>
          </a:p>
        </p:txBody>
      </p:sp>
      <p:sp>
        <p:nvSpPr>
          <p:cNvPr id="3" name="Date Placeholder 2"/>
          <p:cNvSpPr>
            <a:spLocks noGrp="1"/>
          </p:cNvSpPr>
          <p:nvPr>
            <p:ph type="dt" sz="half" idx="10"/>
          </p:nvPr>
        </p:nvSpPr>
        <p:spPr/>
        <p:txBody>
          <a:bodyPr/>
          <a:lstStyle/>
          <a:p>
            <a:fld id="{3060E64C-D478-4552-85BA-E8BE808F3DE5}" type="datetime5">
              <a:rPr lang="en-GB" smtClean="0"/>
              <a:t>14-Oct-26</a:t>
            </a:fld>
            <a:endParaRPr lang="en-GB" dirty="0"/>
          </a:p>
        </p:txBody>
      </p:sp>
      <p:sp>
        <p:nvSpPr>
          <p:cNvPr id="6" name="Slide Number Placeholder 5"/>
          <p:cNvSpPr>
            <a:spLocks noGrp="1"/>
          </p:cNvSpPr>
          <p:nvPr>
            <p:ph type="sldNum" sz="quarter" idx="12"/>
          </p:nvPr>
        </p:nvSpPr>
        <p:spPr/>
        <p:txBody>
          <a:bodyPr/>
          <a:lstStyle/>
          <a:p>
            <a:fld id="{CC7D8618-F20C-406E-B464-04F15D14577A}" type="slidenum">
              <a:rPr lang="en-GB" smtClean="0"/>
              <a:pPr/>
              <a:t>2</a:t>
            </a:fld>
            <a:endParaRPr lang="en-GB" dirty="0"/>
          </a:p>
        </p:txBody>
      </p:sp>
      <p:sp>
        <p:nvSpPr>
          <p:cNvPr id="16" name="Text Placeholder 15"/>
          <p:cNvSpPr>
            <a:spLocks noGrp="1"/>
          </p:cNvSpPr>
          <p:nvPr>
            <p:ph type="body" sz="quarter" idx="13"/>
          </p:nvPr>
        </p:nvSpPr>
        <p:spPr/>
        <p:txBody>
          <a:bodyPr/>
          <a:lstStyle/>
          <a:p>
            <a:r>
              <a:rPr lang="en-US" dirty="0"/>
              <a:t>Rustam Togambayev &amp; Iyad Alomar</a:t>
            </a:r>
          </a:p>
        </p:txBody>
      </p:sp>
      <p:sp>
        <p:nvSpPr>
          <p:cNvPr id="17" name="Text Placeholder 16"/>
          <p:cNvSpPr>
            <a:spLocks noGrp="1"/>
          </p:cNvSpPr>
          <p:nvPr>
            <p:ph type="body" sz="quarter" idx="14"/>
          </p:nvPr>
        </p:nvSpPr>
        <p:spPr/>
        <p:txBody>
          <a:bodyPr/>
          <a:lstStyle/>
          <a:p>
            <a:endParaRPr lang="en-GB" dirty="0"/>
          </a:p>
        </p:txBody>
      </p:sp>
      <p:sp>
        <p:nvSpPr>
          <p:cNvPr id="18" name="Text Placeholder 17"/>
          <p:cNvSpPr>
            <a:spLocks noGrp="1"/>
          </p:cNvSpPr>
          <p:nvPr>
            <p:ph type="body" sz="quarter" idx="15"/>
          </p:nvPr>
        </p:nvSpPr>
        <p:spPr/>
        <p:txBody>
          <a:bodyPr/>
          <a:lstStyle/>
          <a:p>
            <a:endParaRPr lang="en-GB"/>
          </a:p>
        </p:txBody>
      </p:sp>
      <p:pic>
        <p:nvPicPr>
          <p:cNvPr id="7" name="Picture 6">
            <a:extLst>
              <a:ext uri="{FF2B5EF4-FFF2-40B4-BE49-F238E27FC236}">
                <a16:creationId xmlns:a16="http://schemas.microsoft.com/office/drawing/2014/main" id="{C21523AD-620F-9048-C1B2-8679466EC6BD}"/>
              </a:ext>
            </a:extLst>
          </p:cNvPr>
          <p:cNvPicPr>
            <a:picLocks noChangeAspect="1"/>
          </p:cNvPicPr>
          <p:nvPr/>
        </p:nvPicPr>
        <p:blipFill>
          <a:blip r:embed="rId2"/>
          <a:stretch>
            <a:fillRect/>
          </a:stretch>
        </p:blipFill>
        <p:spPr>
          <a:xfrm>
            <a:off x="1342911" y="1596342"/>
            <a:ext cx="6329440" cy="3145481"/>
          </a:xfrm>
          <a:prstGeom prst="rect">
            <a:avLst/>
          </a:prstGeom>
        </p:spPr>
      </p:pic>
      <p:sp>
        <p:nvSpPr>
          <p:cNvPr id="8" name="Oval 7">
            <a:extLst>
              <a:ext uri="{FF2B5EF4-FFF2-40B4-BE49-F238E27FC236}">
                <a16:creationId xmlns:a16="http://schemas.microsoft.com/office/drawing/2014/main" id="{8CA4FE0D-5F4A-5A84-3936-9B52EA10A3D4}"/>
              </a:ext>
            </a:extLst>
          </p:cNvPr>
          <p:cNvSpPr/>
          <p:nvPr/>
        </p:nvSpPr>
        <p:spPr>
          <a:xfrm>
            <a:off x="-23606" y="2324261"/>
            <a:ext cx="1341759" cy="1346484"/>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69A4A027-AB44-E8DE-43DB-AC58B9996B48}"/>
              </a:ext>
            </a:extLst>
          </p:cNvPr>
          <p:cNvSpPr/>
          <p:nvPr/>
        </p:nvSpPr>
        <p:spPr>
          <a:xfrm>
            <a:off x="7739126" y="2324261"/>
            <a:ext cx="1405504" cy="1346484"/>
          </a:xfrm>
          <a:prstGeom prst="ellipse">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ight Arrow 10">
            <a:extLst>
              <a:ext uri="{FF2B5EF4-FFF2-40B4-BE49-F238E27FC236}">
                <a16:creationId xmlns:a16="http://schemas.microsoft.com/office/drawing/2014/main" id="{FF8D82E2-6CFA-82E3-2E36-4687D1270AC7}"/>
              </a:ext>
            </a:extLst>
          </p:cNvPr>
          <p:cNvSpPr/>
          <p:nvPr/>
        </p:nvSpPr>
        <p:spPr>
          <a:xfrm>
            <a:off x="7425083" y="2747558"/>
            <a:ext cx="335062" cy="495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BCBA9A8B-0761-624D-8091-F1B1634F7E93}"/>
              </a:ext>
            </a:extLst>
          </p:cNvPr>
          <p:cNvSpPr/>
          <p:nvPr/>
        </p:nvSpPr>
        <p:spPr>
          <a:xfrm>
            <a:off x="1311904" y="2749853"/>
            <a:ext cx="327083" cy="4953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81C0AE6-B044-9D82-2223-2B94389FE1A5}"/>
              </a:ext>
            </a:extLst>
          </p:cNvPr>
          <p:cNvSpPr txBox="1"/>
          <p:nvPr/>
        </p:nvSpPr>
        <p:spPr>
          <a:xfrm>
            <a:off x="-39638" y="2693942"/>
            <a:ext cx="1405504" cy="584775"/>
          </a:xfrm>
          <a:prstGeom prst="rect">
            <a:avLst/>
          </a:prstGeom>
          <a:noFill/>
        </p:spPr>
        <p:txBody>
          <a:bodyPr wrap="square" rtlCol="0">
            <a:spAutoFit/>
          </a:bodyPr>
          <a:lstStyle/>
          <a:p>
            <a:pPr algn="ctr"/>
            <a:r>
              <a:rPr lang="en-US" sz="1600" dirty="0">
                <a:solidFill>
                  <a:schemeClr val="bg1"/>
                </a:solidFill>
                <a:latin typeface="Aptos" panose="020B0004020202020204" pitchFamily="34" charset="0"/>
              </a:rPr>
              <a:t>Initial Certification</a:t>
            </a:r>
          </a:p>
        </p:txBody>
      </p:sp>
      <p:sp>
        <p:nvSpPr>
          <p:cNvPr id="14" name="TextBox 13">
            <a:extLst>
              <a:ext uri="{FF2B5EF4-FFF2-40B4-BE49-F238E27FC236}">
                <a16:creationId xmlns:a16="http://schemas.microsoft.com/office/drawing/2014/main" id="{18CD739F-27E6-5B94-2BA2-9B7724C0C222}"/>
              </a:ext>
            </a:extLst>
          </p:cNvPr>
          <p:cNvSpPr txBox="1"/>
          <p:nvPr/>
        </p:nvSpPr>
        <p:spPr>
          <a:xfrm>
            <a:off x="7536056" y="2747558"/>
            <a:ext cx="1832664" cy="584775"/>
          </a:xfrm>
          <a:prstGeom prst="rect">
            <a:avLst/>
          </a:prstGeom>
          <a:noFill/>
        </p:spPr>
        <p:txBody>
          <a:bodyPr wrap="square" rtlCol="0">
            <a:spAutoFit/>
          </a:bodyPr>
          <a:lstStyle/>
          <a:p>
            <a:pPr algn="ctr"/>
            <a:r>
              <a:rPr lang="en-US" sz="1600" dirty="0">
                <a:solidFill>
                  <a:schemeClr val="bg1"/>
                </a:solidFill>
                <a:latin typeface="Aptos" panose="020B0004020202020204" pitchFamily="34" charset="0"/>
              </a:rPr>
              <a:t>Recertification</a:t>
            </a:r>
          </a:p>
          <a:p>
            <a:pPr algn="ctr"/>
            <a:r>
              <a:rPr lang="en-US" sz="1600" dirty="0">
                <a:solidFill>
                  <a:schemeClr val="bg1"/>
                </a:solidFill>
                <a:latin typeface="Aptos" panose="020B0004020202020204" pitchFamily="34" charset="0"/>
              </a:rPr>
              <a:t>event</a:t>
            </a:r>
          </a:p>
        </p:txBody>
      </p:sp>
      <p:sp>
        <p:nvSpPr>
          <p:cNvPr id="15" name="TextBox 14">
            <a:extLst>
              <a:ext uri="{FF2B5EF4-FFF2-40B4-BE49-F238E27FC236}">
                <a16:creationId xmlns:a16="http://schemas.microsoft.com/office/drawing/2014/main" id="{65A170D4-1867-A1F4-9BA3-065490D04706}"/>
              </a:ext>
            </a:extLst>
          </p:cNvPr>
          <p:cNvSpPr txBox="1"/>
          <p:nvPr/>
        </p:nvSpPr>
        <p:spPr>
          <a:xfrm>
            <a:off x="73378" y="5189361"/>
            <a:ext cx="8997244" cy="1015663"/>
          </a:xfrm>
          <a:prstGeom prst="rect">
            <a:avLst/>
          </a:prstGeom>
          <a:solidFill>
            <a:schemeClr val="tx2">
              <a:lumMod val="75000"/>
            </a:schemeClr>
          </a:solidFill>
        </p:spPr>
        <p:txBody>
          <a:bodyPr wrap="square" rtlCol="0">
            <a:spAutoFit/>
          </a:bodyPr>
          <a:lstStyle/>
          <a:p>
            <a:pPr algn="ctr"/>
            <a:r>
              <a:rPr lang="en-US" sz="2000" dirty="0">
                <a:solidFill>
                  <a:schemeClr val="bg1"/>
                </a:solidFill>
                <a:latin typeface="Arial" panose="020B0604020202020204" pitchFamily="34" charset="0"/>
                <a:cs typeface="Arial" panose="020B0604020202020204" pitchFamily="34" charset="0"/>
              </a:rPr>
              <a:t>The current systems are purely retrospective . They rely on audits and accidents to record deviations after they happen, falling to capture the dynamic reality of GHO.   </a:t>
            </a:r>
          </a:p>
        </p:txBody>
      </p:sp>
    </p:spTree>
    <p:extLst>
      <p:ext uri="{BB962C8B-B14F-4D97-AF65-F5344CB8AC3E}">
        <p14:creationId xmlns:p14="http://schemas.microsoft.com/office/powerpoint/2010/main" val="29168018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b="1" dirty="0"/>
              <a:t>Objectivities </a:t>
            </a:r>
          </a:p>
        </p:txBody>
      </p:sp>
      <p:sp>
        <p:nvSpPr>
          <p:cNvPr id="7" name="Content Placeholder 6"/>
          <p:cNvSpPr>
            <a:spLocks noGrp="1"/>
          </p:cNvSpPr>
          <p:nvPr>
            <p:ph idx="1"/>
          </p:nvPr>
        </p:nvSpPr>
        <p:spPr>
          <a:xfrm>
            <a:off x="103905" y="1099800"/>
            <a:ext cx="8701048" cy="5321548"/>
          </a:xfrm>
        </p:spPr>
        <p:txBody>
          <a:bodyPr>
            <a:normAutofit fontScale="85000" lnSpcReduction="20000"/>
          </a:bodyPr>
          <a:lstStyle/>
          <a:p>
            <a:pPr marL="0" indent="0">
              <a:buNone/>
            </a:pPr>
            <a:r>
              <a:rPr lang="en-US" sz="2600" b="1" i="0" u="none" strike="noStrike" dirty="0">
                <a:solidFill>
                  <a:srgbClr val="002033"/>
                </a:solidFill>
                <a:effectLst/>
                <a:latin typeface="Arial" panose="020B0604020202020204" pitchFamily="34" charset="0"/>
                <a:cs typeface="Arial" panose="020B0604020202020204" pitchFamily="34" charset="0"/>
              </a:rPr>
              <a:t>Goal: </a:t>
            </a:r>
            <a:r>
              <a:rPr lang="en-US" sz="2600" i="0" u="none" strike="noStrike" dirty="0">
                <a:solidFill>
                  <a:srgbClr val="002033"/>
                </a:solidFill>
                <a:effectLst/>
                <a:latin typeface="Arial" panose="020B0604020202020204" pitchFamily="34" charset="0"/>
                <a:cs typeface="Arial" panose="020B0604020202020204" pitchFamily="34" charset="0"/>
              </a:rPr>
              <a:t>built an employee’s digital passport</a:t>
            </a:r>
          </a:p>
          <a:p>
            <a:pPr marL="342900" indent="-342900">
              <a:lnSpc>
                <a:spcPct val="120000"/>
              </a:lnSpc>
              <a:buFont typeface="Arial" panose="020B0604020202020204" pitchFamily="34" charset="0"/>
              <a:buChar char="•"/>
            </a:pPr>
            <a:r>
              <a:rPr lang="en-US" sz="2600" b="0" i="0" u="none" strike="noStrike" dirty="0">
                <a:solidFill>
                  <a:srgbClr val="002033"/>
                </a:solidFill>
                <a:effectLst/>
                <a:latin typeface="Arial" panose="020B0604020202020204" pitchFamily="34" charset="0"/>
                <a:cs typeface="Arial" panose="020B0604020202020204" pitchFamily="34" charset="0"/>
              </a:rPr>
              <a:t>Reduce Human Factor in Aviation Safety</a:t>
            </a:r>
          </a:p>
          <a:p>
            <a:pPr marL="342900" indent="-342900">
              <a:lnSpc>
                <a:spcPct val="120000"/>
              </a:lnSpc>
              <a:buFont typeface="Arial" panose="020B0604020202020204" pitchFamily="34" charset="0"/>
              <a:buChar char="•"/>
            </a:pPr>
            <a:r>
              <a:rPr lang="en-US" sz="2600" dirty="0">
                <a:solidFill>
                  <a:srgbClr val="002033"/>
                </a:solidFill>
                <a:latin typeface="Arial" panose="020B0604020202020204" pitchFamily="34" charset="0"/>
                <a:cs typeface="Arial" panose="020B0604020202020204" pitchFamily="34" charset="0"/>
              </a:rPr>
              <a:t>Safe and Sustainability Ground Handling environment </a:t>
            </a:r>
            <a:endParaRPr lang="en-US" sz="2600" b="0" i="0" u="none" strike="noStrike" dirty="0">
              <a:solidFill>
                <a:srgbClr val="002033"/>
              </a:solidFill>
              <a:effectLst/>
              <a:latin typeface="Arial" panose="020B0604020202020204" pitchFamily="34" charset="0"/>
              <a:cs typeface="Arial" panose="020B0604020202020204" pitchFamily="34" charset="0"/>
            </a:endParaRPr>
          </a:p>
          <a:p>
            <a:pPr marL="342900" indent="-342900">
              <a:lnSpc>
                <a:spcPct val="120000"/>
              </a:lnSpc>
            </a:pPr>
            <a:r>
              <a:rPr lang="en-US" sz="2600" dirty="0">
                <a:latin typeface="Arial" panose="020B0604020202020204" pitchFamily="34" charset="0"/>
                <a:cs typeface="Arial" panose="020B0604020202020204" pitchFamily="34" charset="0"/>
              </a:rPr>
              <a:t>To identify gaps in knowledge and pinpoint strengths and weaknesses</a:t>
            </a:r>
          </a:p>
          <a:p>
            <a:pPr marL="342900" indent="-342900">
              <a:lnSpc>
                <a:spcPct val="120000"/>
              </a:lnSpc>
            </a:pPr>
            <a:r>
              <a:rPr lang="en-US" sz="2600" dirty="0">
                <a:latin typeface="Arial" panose="020B0604020202020204" pitchFamily="34" charset="0"/>
                <a:cs typeface="Arial" panose="020B0604020202020204" pitchFamily="34" charset="0"/>
              </a:rPr>
              <a:t>Determine employees’ strength and weaknesses </a:t>
            </a:r>
          </a:p>
          <a:p>
            <a:pPr marL="342900" indent="-342900">
              <a:lnSpc>
                <a:spcPct val="120000"/>
              </a:lnSpc>
            </a:pPr>
            <a:r>
              <a:rPr lang="en-US" sz="2600" dirty="0">
                <a:latin typeface="Arial" panose="020B0604020202020204" pitchFamily="34" charset="0"/>
                <a:cs typeface="Arial" panose="020B0604020202020204" pitchFamily="34" charset="0"/>
              </a:rPr>
              <a:t>Transfer Certification from static to dynamic model</a:t>
            </a:r>
          </a:p>
          <a:p>
            <a:pPr marL="342900" indent="-342900">
              <a:lnSpc>
                <a:spcPct val="120000"/>
              </a:lnSpc>
            </a:pPr>
            <a:r>
              <a:rPr lang="en-US" sz="2600" dirty="0">
                <a:latin typeface="Arial" panose="020B0604020202020204" pitchFamily="34" charset="0"/>
                <a:cs typeface="Arial" panose="020B0604020202020204" pitchFamily="34" charset="0"/>
              </a:rPr>
              <a:t>Long-term, continuous assessment of competences</a:t>
            </a:r>
          </a:p>
          <a:p>
            <a:pPr marL="342900" indent="-342900">
              <a:lnSpc>
                <a:spcPct val="120000"/>
              </a:lnSpc>
            </a:pPr>
            <a:r>
              <a:rPr lang="en-US" sz="2600" dirty="0">
                <a:latin typeface="Arial" panose="020B0604020202020204" pitchFamily="34" charset="0"/>
                <a:cs typeface="Arial" panose="020B0604020202020204" pitchFamily="34" charset="0"/>
              </a:rPr>
              <a:t>Integrate systems and  translate data to understandable metrics</a:t>
            </a:r>
          </a:p>
          <a:p>
            <a:pPr marL="342900" indent="-342900">
              <a:lnSpc>
                <a:spcPct val="120000"/>
              </a:lnSpc>
            </a:pPr>
            <a:r>
              <a:rPr lang="en-US" sz="2600" dirty="0">
                <a:latin typeface="Arial" panose="020B0604020202020204" pitchFamily="34" charset="0"/>
                <a:cs typeface="Arial" panose="020B0604020202020204" pitchFamily="34" charset="0"/>
              </a:rPr>
              <a:t>Improving SOPs</a:t>
            </a:r>
          </a:p>
          <a:p>
            <a:pPr marL="342900" indent="-342900">
              <a:buFont typeface="Arial" panose="020B0604020202020204" pitchFamily="34" charset="0"/>
              <a:buChar char="•"/>
            </a:pPr>
            <a:endParaRPr lang="en-US" sz="2400" b="0" i="0" u="none" strike="noStrike" dirty="0">
              <a:solidFill>
                <a:srgbClr val="002033"/>
              </a:solidFill>
              <a:effectLst/>
              <a:latin typeface="YS Display"/>
            </a:endParaRPr>
          </a:p>
        </p:txBody>
      </p:sp>
      <p:sp>
        <p:nvSpPr>
          <p:cNvPr id="5" name="Date Placeholder 4"/>
          <p:cNvSpPr>
            <a:spLocks noGrp="1"/>
          </p:cNvSpPr>
          <p:nvPr>
            <p:ph type="dt" sz="half" idx="10"/>
          </p:nvPr>
        </p:nvSpPr>
        <p:spPr/>
        <p:txBody>
          <a:bodyPr/>
          <a:lstStyle/>
          <a:p>
            <a:fld id="{7A4054C3-C327-4949-A87F-3351AEDBA2F2}" type="datetime5">
              <a:rPr lang="en-GB" smtClean="0"/>
              <a:t>14-Oct-26</a:t>
            </a:fld>
            <a:endParaRPr lang="en-GB" dirty="0"/>
          </a:p>
        </p:txBody>
      </p:sp>
      <p:sp>
        <p:nvSpPr>
          <p:cNvPr id="8" name="Slide Number Placeholder 7"/>
          <p:cNvSpPr>
            <a:spLocks noGrp="1"/>
          </p:cNvSpPr>
          <p:nvPr>
            <p:ph type="sldNum" sz="quarter" idx="12"/>
          </p:nvPr>
        </p:nvSpPr>
        <p:spPr/>
        <p:txBody>
          <a:bodyPr/>
          <a:lstStyle/>
          <a:p>
            <a:fld id="{CC7D8618-F20C-406E-B464-04F15D14577A}" type="slidenum">
              <a:rPr lang="en-GB" smtClean="0"/>
              <a:pPr/>
              <a:t>3</a:t>
            </a:fld>
            <a:endParaRPr lang="en-GB" dirty="0"/>
          </a:p>
        </p:txBody>
      </p:sp>
      <p:sp>
        <p:nvSpPr>
          <p:cNvPr id="12" name="Text Placeholder 11"/>
          <p:cNvSpPr>
            <a:spLocks noGrp="1"/>
          </p:cNvSpPr>
          <p:nvPr>
            <p:ph type="body" sz="quarter" idx="13"/>
          </p:nvPr>
        </p:nvSpPr>
        <p:spPr/>
        <p:txBody>
          <a:bodyPr/>
          <a:lstStyle/>
          <a:p>
            <a:r>
              <a:rPr lang="en-US" dirty="0"/>
              <a:t>Rustam Togambayev &amp; Iyad Alomar</a:t>
            </a:r>
          </a:p>
        </p:txBody>
      </p:sp>
      <p:sp>
        <p:nvSpPr>
          <p:cNvPr id="13" name="Text Placeholder 12"/>
          <p:cNvSpPr>
            <a:spLocks noGrp="1"/>
          </p:cNvSpPr>
          <p:nvPr>
            <p:ph type="body" sz="quarter" idx="14"/>
          </p:nvPr>
        </p:nvSpPr>
        <p:spPr/>
        <p:txBody>
          <a:bodyPr/>
          <a:lstStyle/>
          <a:p>
            <a:endParaRPr lang="en-GB"/>
          </a:p>
        </p:txBody>
      </p:sp>
      <p:sp>
        <p:nvSpPr>
          <p:cNvPr id="14" name="Text Placeholder 13"/>
          <p:cNvSpPr>
            <a:spLocks noGrp="1"/>
          </p:cNvSpPr>
          <p:nvPr>
            <p:ph type="body" sz="quarter" idx="15"/>
          </p:nvPr>
        </p:nvSpPr>
        <p:spPr/>
        <p:txBody>
          <a:bodyPr/>
          <a:lstStyle/>
          <a:p>
            <a:endParaRPr lang="en-GB"/>
          </a:p>
        </p:txBody>
      </p:sp>
    </p:spTree>
    <p:extLst>
      <p:ext uri="{BB962C8B-B14F-4D97-AF65-F5344CB8AC3E}">
        <p14:creationId xmlns:p14="http://schemas.microsoft.com/office/powerpoint/2010/main" val="3980099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 y="346273"/>
            <a:ext cx="9143998" cy="986719"/>
          </a:xfrm>
        </p:spPr>
        <p:txBody>
          <a:bodyPr anchor="t">
            <a:normAutofit/>
          </a:bodyPr>
          <a:lstStyle/>
          <a:p>
            <a:r>
              <a:rPr lang="en-GB" sz="3400" b="1" dirty="0"/>
              <a:t>Gaps</a:t>
            </a:r>
            <a:r>
              <a:rPr lang="en-GB" sz="3400" dirty="0"/>
              <a:t> </a:t>
            </a:r>
          </a:p>
        </p:txBody>
      </p:sp>
      <p:sp>
        <p:nvSpPr>
          <p:cNvPr id="3" name="Date Placeholder 2"/>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fld id="{3060E64C-D478-4552-85BA-E8BE808F3DE5}" type="datetime5">
              <a:rPr lang="en-GB" sz="1200" smtClean="0"/>
              <a:pPr>
                <a:lnSpc>
                  <a:spcPct val="90000"/>
                </a:lnSpc>
                <a:spcAft>
                  <a:spcPts val="600"/>
                </a:spcAft>
              </a:pPr>
              <a:t>14-Oct-26</a:t>
            </a:fld>
            <a:endParaRPr lang="en-GB" sz="1200"/>
          </a:p>
        </p:txBody>
      </p:sp>
      <p:sp>
        <p:nvSpPr>
          <p:cNvPr id="6" name="Slide Number Placeholder 5"/>
          <p:cNvSpPr>
            <a:spLocks noGrp="1"/>
          </p:cNvSpPr>
          <p:nvPr>
            <p:ph type="sldNum" sz="quarter" idx="12"/>
          </p:nvPr>
        </p:nvSpPr>
        <p:spPr>
          <a:xfrm>
            <a:off x="8545794" y="6597052"/>
            <a:ext cx="598206" cy="259435"/>
          </a:xfrm>
        </p:spPr>
        <p:txBody>
          <a:bodyPr anchor="ctr">
            <a:normAutofit/>
          </a:bodyPr>
          <a:lstStyle/>
          <a:p>
            <a:pPr>
              <a:lnSpc>
                <a:spcPct val="90000"/>
              </a:lnSpc>
              <a:spcAft>
                <a:spcPts val="600"/>
              </a:spcAft>
            </a:pPr>
            <a:fld id="{CC7D8618-F20C-406E-B464-04F15D14577A}" type="slidenum">
              <a:rPr lang="en-GB" sz="1100" smtClean="0"/>
              <a:pPr>
                <a:lnSpc>
                  <a:spcPct val="90000"/>
                </a:lnSpc>
                <a:spcAft>
                  <a:spcPts val="600"/>
                </a:spcAft>
              </a:pPr>
              <a:t>4</a:t>
            </a:fld>
            <a:endParaRPr lang="en-GB" sz="1100"/>
          </a:p>
        </p:txBody>
      </p:sp>
      <p:sp>
        <p:nvSpPr>
          <p:cNvPr id="23" name="Text Placeholder 5">
            <a:extLst>
              <a:ext uri="{FF2B5EF4-FFF2-40B4-BE49-F238E27FC236}">
                <a16:creationId xmlns:a16="http://schemas.microsoft.com/office/drawing/2014/main" id="{7B619E57-2AB5-F3B2-EE30-24B2C3BE2346}"/>
              </a:ext>
            </a:extLst>
          </p:cNvPr>
          <p:cNvSpPr>
            <a:spLocks noGrp="1"/>
          </p:cNvSpPr>
          <p:nvPr>
            <p:ph type="body" sz="quarter" idx="13"/>
          </p:nvPr>
        </p:nvSpPr>
        <p:spPr>
          <a:xfrm>
            <a:off x="1116602" y="6597962"/>
            <a:ext cx="3395577" cy="258763"/>
          </a:xfrm>
        </p:spPr>
        <p:txBody>
          <a:bodyPr/>
          <a:lstStyle/>
          <a:p>
            <a:r>
              <a:rPr lang="en-US" dirty="0"/>
              <a:t>Rustam Togambayev &amp; Iyad Alomar</a:t>
            </a:r>
          </a:p>
        </p:txBody>
      </p:sp>
      <p:sp>
        <p:nvSpPr>
          <p:cNvPr id="25" name="Text Placeholder 6">
            <a:extLst>
              <a:ext uri="{FF2B5EF4-FFF2-40B4-BE49-F238E27FC236}">
                <a16:creationId xmlns:a16="http://schemas.microsoft.com/office/drawing/2014/main" id="{FC2FD2A9-E7E9-206E-2FD6-ECF3F8FA0D4F}"/>
              </a:ext>
            </a:extLst>
          </p:cNvPr>
          <p:cNvSpPr>
            <a:spLocks noGrp="1"/>
          </p:cNvSpPr>
          <p:nvPr>
            <p:ph type="body" sz="quarter" idx="14"/>
          </p:nvPr>
        </p:nvSpPr>
        <p:spPr>
          <a:xfrm>
            <a:off x="1" y="2203"/>
            <a:ext cx="4571999" cy="258763"/>
          </a:xfrm>
        </p:spPr>
        <p:txBody>
          <a:bodyPr/>
          <a:lstStyle/>
          <a:p>
            <a:endParaRPr lang="en-US"/>
          </a:p>
        </p:txBody>
      </p:sp>
      <p:sp>
        <p:nvSpPr>
          <p:cNvPr id="27" name="Text Placeholder 7">
            <a:extLst>
              <a:ext uri="{FF2B5EF4-FFF2-40B4-BE49-F238E27FC236}">
                <a16:creationId xmlns:a16="http://schemas.microsoft.com/office/drawing/2014/main" id="{DE773BD5-0D6D-5A3C-3C2D-D67FF43A9A1B}"/>
              </a:ext>
            </a:extLst>
          </p:cNvPr>
          <p:cNvSpPr>
            <a:spLocks noGrp="1"/>
          </p:cNvSpPr>
          <p:nvPr>
            <p:ph type="body" sz="quarter" idx="15"/>
          </p:nvPr>
        </p:nvSpPr>
        <p:spPr>
          <a:xfrm>
            <a:off x="4572000" y="2203"/>
            <a:ext cx="4571999" cy="258763"/>
          </a:xfrm>
        </p:spPr>
        <p:txBody>
          <a:bodyPr/>
          <a:lstStyle/>
          <a:p>
            <a:endParaRPr lang="en-US"/>
          </a:p>
        </p:txBody>
      </p:sp>
      <p:sp>
        <p:nvSpPr>
          <p:cNvPr id="8" name="TextBox 7">
            <a:extLst>
              <a:ext uri="{FF2B5EF4-FFF2-40B4-BE49-F238E27FC236}">
                <a16:creationId xmlns:a16="http://schemas.microsoft.com/office/drawing/2014/main" id="{286D6DFA-476B-9424-B9D7-1FD4A38774C8}"/>
              </a:ext>
            </a:extLst>
          </p:cNvPr>
          <p:cNvSpPr txBox="1"/>
          <p:nvPr/>
        </p:nvSpPr>
        <p:spPr>
          <a:xfrm>
            <a:off x="460997" y="1184836"/>
            <a:ext cx="8084797" cy="1754326"/>
          </a:xfrm>
          <a:prstGeom prst="rect">
            <a:avLst/>
          </a:prstGeom>
          <a:noFill/>
        </p:spPr>
        <p:txBody>
          <a:bodyPr wrap="square">
            <a:spAutoFit/>
          </a:bodyPr>
          <a:lstStyle/>
          <a:p>
            <a:pPr marL="342900" indent="-342900">
              <a:buFont typeface="Arial" panose="020B0604020202020204" pitchFamily="34" charset="0"/>
              <a:buChar char="•"/>
            </a:pPr>
            <a:r>
              <a:rPr lang="en-GB" dirty="0">
                <a:solidFill>
                  <a:srgbClr val="002033"/>
                </a:solidFill>
                <a:latin typeface="Arial" panose="020B0604020202020204" pitchFamily="34" charset="0"/>
                <a:cs typeface="Arial" panose="020B0604020202020204" pitchFamily="34" charset="0"/>
              </a:rPr>
              <a:t>Data Fragmentation </a:t>
            </a:r>
            <a:endParaRPr lang="en-US" dirty="0">
              <a:latin typeface="Arial" panose="020B0604020202020204" pitchFamily="34" charset="0"/>
              <a:ea typeface="Times New Roman" panose="02020603050405020304" pitchFamily="18" charset="0"/>
              <a:cs typeface="Arial" panose="020B0604020202020204" pitchFamily="34" charset="0"/>
            </a:endParaRPr>
          </a:p>
          <a:p>
            <a:pPr marL="342900" lvl="0" indent="-342900">
              <a:buFont typeface="Arial" panose="020B0604020202020204" pitchFamily="34" charset="0"/>
              <a:buChar char="•"/>
            </a:pPr>
            <a:r>
              <a:rPr lang="en-US" dirty="0">
                <a:effectLst/>
                <a:latin typeface="Arial" panose="020B0604020202020204" pitchFamily="34" charset="0"/>
                <a:ea typeface="Times New Roman" panose="02020603050405020304" pitchFamily="18" charset="0"/>
                <a:cs typeface="Arial" panose="020B0604020202020204" pitchFamily="34" charset="0"/>
              </a:rPr>
              <a:t>No Integration Between Real Data and Training Systems. Training outcomes are not systematically linked to operational performance</a:t>
            </a:r>
            <a:endParaRPr lang="en-GB" dirty="0">
              <a:effectLst/>
              <a:latin typeface="Arial" panose="020B0604020202020204" pitchFamily="34" charset="0"/>
              <a:ea typeface="Times New Roman" panose="02020603050405020304" pitchFamily="18" charset="0"/>
              <a:cs typeface="Arial" panose="020B0604020202020204" pitchFamily="34" charset="0"/>
            </a:endParaRPr>
          </a:p>
          <a:p>
            <a:pPr marL="342900" lvl="0" indent="-342900">
              <a:buFont typeface="Arial" panose="020B0604020202020204" pitchFamily="34" charset="0"/>
              <a:buChar char="•"/>
            </a:pPr>
            <a:r>
              <a:rPr lang="en-US" dirty="0">
                <a:effectLst/>
                <a:latin typeface="Arial" panose="020B0604020202020204" pitchFamily="34" charset="0"/>
                <a:ea typeface="Times New Roman" panose="02020603050405020304" pitchFamily="18" charset="0"/>
                <a:cs typeface="Arial" panose="020B0604020202020204" pitchFamily="34" charset="0"/>
              </a:rPr>
              <a:t>Current assessment approaches lack scalability (manual, episodic assessments), visibility (limited insight into individual performance trajectories), and risk prediction (static models cannot forecast future risk). </a:t>
            </a:r>
            <a:endParaRPr lang="en-GB"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49874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2F680D8-9833-C309-2E4C-A185BB0D02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073" y="1463040"/>
            <a:ext cx="4136515" cy="5029200"/>
          </a:xfrm>
          <a:prstGeom prst="rect">
            <a:avLst/>
          </a:prstGeom>
          <a:noFill/>
        </p:spPr>
      </p:pic>
      <p:pic>
        <p:nvPicPr>
          <p:cNvPr id="9" name="Content Placeholder 8">
            <a:extLst>
              <a:ext uri="{FF2B5EF4-FFF2-40B4-BE49-F238E27FC236}">
                <a16:creationId xmlns:a16="http://schemas.microsoft.com/office/drawing/2014/main" id="{1BEAA861-3CDD-5E70-20FF-38375AA77704}"/>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4679950" y="1463040"/>
            <a:ext cx="4206875" cy="5029200"/>
          </a:xfrm>
          <a:prstGeom prst="rect">
            <a:avLst/>
          </a:prstGeom>
        </p:spPr>
      </p:pic>
      <p:sp>
        <p:nvSpPr>
          <p:cNvPr id="30" name="Title 29"/>
          <p:cNvSpPr>
            <a:spLocks noGrp="1"/>
          </p:cNvSpPr>
          <p:nvPr>
            <p:ph type="title"/>
          </p:nvPr>
        </p:nvSpPr>
        <p:spPr>
          <a:xfrm>
            <a:off x="1" y="260966"/>
            <a:ext cx="9143998" cy="986719"/>
          </a:xfrm>
        </p:spPr>
        <p:txBody>
          <a:bodyPr>
            <a:noAutofit/>
          </a:bodyPr>
          <a:lstStyle/>
          <a:p>
            <a:r>
              <a:rPr lang="en-US" sz="4200" b="1" dirty="0"/>
              <a:t>Shift Paradigms. From Compliance to Continuous Competency </a:t>
            </a:r>
            <a:endParaRPr lang="en-GB" sz="4200" b="1" dirty="0"/>
          </a:p>
        </p:txBody>
      </p:sp>
      <p:sp>
        <p:nvSpPr>
          <p:cNvPr id="45" name="Text Placeholder 4">
            <a:extLst>
              <a:ext uri="{FF2B5EF4-FFF2-40B4-BE49-F238E27FC236}">
                <a16:creationId xmlns:a16="http://schemas.microsoft.com/office/drawing/2014/main" id="{07F0E36F-0D39-2CA0-6291-7A8BA1316FAA}"/>
              </a:ext>
            </a:extLst>
          </p:cNvPr>
          <p:cNvSpPr>
            <a:spLocks noGrp="1"/>
          </p:cNvSpPr>
          <p:nvPr>
            <p:ph type="body" sz="quarter" idx="14"/>
          </p:nvPr>
        </p:nvSpPr>
        <p:spPr>
          <a:xfrm>
            <a:off x="2" y="2203"/>
            <a:ext cx="4571998" cy="258763"/>
          </a:xfrm>
        </p:spPr>
        <p:txBody>
          <a:bodyPr/>
          <a:lstStyle/>
          <a:p>
            <a:endParaRPr lang="en-US"/>
          </a:p>
        </p:txBody>
      </p:sp>
      <p:sp>
        <p:nvSpPr>
          <p:cNvPr id="46" name="Text Placeholder 5">
            <a:extLst>
              <a:ext uri="{FF2B5EF4-FFF2-40B4-BE49-F238E27FC236}">
                <a16:creationId xmlns:a16="http://schemas.microsoft.com/office/drawing/2014/main" id="{7955D188-932C-615C-A9BE-C1FF385A65F0}"/>
              </a:ext>
            </a:extLst>
          </p:cNvPr>
          <p:cNvSpPr>
            <a:spLocks noGrp="1"/>
          </p:cNvSpPr>
          <p:nvPr>
            <p:ph type="body" sz="quarter" idx="15"/>
          </p:nvPr>
        </p:nvSpPr>
        <p:spPr>
          <a:xfrm>
            <a:off x="4572001" y="2203"/>
            <a:ext cx="4571998" cy="258763"/>
          </a:xfrm>
        </p:spPr>
        <p:txBody>
          <a:bodyPr/>
          <a:lstStyle/>
          <a:p>
            <a:endParaRPr lang="en-US"/>
          </a:p>
        </p:txBody>
      </p:sp>
      <p:sp>
        <p:nvSpPr>
          <p:cNvPr id="3" name="Date Placeholder 2"/>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fld id="{9313C9EE-16C5-4076-9BE9-6380BA105E9E}" type="datetime5">
              <a:rPr lang="en-GB" sz="1200" smtClean="0"/>
              <a:pPr>
                <a:lnSpc>
                  <a:spcPct val="90000"/>
                </a:lnSpc>
                <a:spcAft>
                  <a:spcPts val="600"/>
                </a:spcAft>
              </a:pPr>
              <a:t>14-Oct-26</a:t>
            </a:fld>
            <a:endParaRPr lang="en-GB" sz="1200"/>
          </a:p>
        </p:txBody>
      </p:sp>
      <p:sp>
        <p:nvSpPr>
          <p:cNvPr id="4" name="Slide Number Placeholder 3"/>
          <p:cNvSpPr>
            <a:spLocks noGrp="1"/>
          </p:cNvSpPr>
          <p:nvPr>
            <p:ph type="sldNum" sz="quarter" idx="12"/>
          </p:nvPr>
        </p:nvSpPr>
        <p:spPr>
          <a:xfrm>
            <a:off x="8545794" y="6597052"/>
            <a:ext cx="598206" cy="259435"/>
          </a:xfrm>
        </p:spPr>
        <p:txBody>
          <a:bodyPr anchor="ctr">
            <a:normAutofit/>
          </a:bodyPr>
          <a:lstStyle/>
          <a:p>
            <a:pPr>
              <a:lnSpc>
                <a:spcPct val="90000"/>
              </a:lnSpc>
              <a:spcAft>
                <a:spcPts val="600"/>
              </a:spcAft>
            </a:pPr>
            <a:fld id="{CC7D8618-F20C-406E-B464-04F15D14577A}" type="slidenum">
              <a:rPr lang="en-GB" sz="1100" smtClean="0"/>
              <a:pPr>
                <a:lnSpc>
                  <a:spcPct val="90000"/>
                </a:lnSpc>
                <a:spcAft>
                  <a:spcPts val="600"/>
                </a:spcAft>
              </a:pPr>
              <a:t>5</a:t>
            </a:fld>
            <a:endParaRPr lang="en-GB" sz="1100"/>
          </a:p>
        </p:txBody>
      </p:sp>
      <p:sp>
        <p:nvSpPr>
          <p:cNvPr id="5" name="Text Placeholder 9">
            <a:extLst>
              <a:ext uri="{FF2B5EF4-FFF2-40B4-BE49-F238E27FC236}">
                <a16:creationId xmlns:a16="http://schemas.microsoft.com/office/drawing/2014/main" id="{BBF77075-45EA-9561-8CBB-859A9AEC950E}"/>
              </a:ext>
            </a:extLst>
          </p:cNvPr>
          <p:cNvSpPr>
            <a:spLocks noGrp="1"/>
          </p:cNvSpPr>
          <p:nvPr>
            <p:ph type="body" sz="quarter" idx="13"/>
          </p:nvPr>
        </p:nvSpPr>
        <p:spPr>
          <a:xfrm>
            <a:off x="1116602" y="6597962"/>
            <a:ext cx="3395577" cy="258763"/>
          </a:xfrm>
        </p:spPr>
        <p:txBody>
          <a:bodyPr anchor="ctr">
            <a:normAutofit lnSpcReduction="10000"/>
          </a:bodyPr>
          <a:lstStyle/>
          <a:p>
            <a:r>
              <a:rPr lang="en-US" sz="1200" dirty="0"/>
              <a:t>Rustam Togambayev &amp; Iyad Alomar</a:t>
            </a:r>
          </a:p>
        </p:txBody>
      </p:sp>
    </p:spTree>
    <p:extLst>
      <p:ext uri="{BB962C8B-B14F-4D97-AF65-F5344CB8AC3E}">
        <p14:creationId xmlns:p14="http://schemas.microsoft.com/office/powerpoint/2010/main" val="3268763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p:cNvSpPr>
            <a:spLocks noGrp="1"/>
          </p:cNvSpPr>
          <p:nvPr>
            <p:ph type="title"/>
          </p:nvPr>
        </p:nvSpPr>
        <p:spPr/>
        <p:txBody>
          <a:bodyPr/>
          <a:lstStyle/>
          <a:p>
            <a:r>
              <a:rPr lang="en-US" b="1" dirty="0"/>
              <a:t>Introducing The Human-centered DT</a:t>
            </a:r>
            <a:endParaRPr lang="en-GB" b="1" dirty="0"/>
          </a:p>
        </p:txBody>
      </p:sp>
      <p:sp>
        <p:nvSpPr>
          <p:cNvPr id="32" name="Text Placeholder 31"/>
          <p:cNvSpPr>
            <a:spLocks noGrp="1"/>
          </p:cNvSpPr>
          <p:nvPr>
            <p:ph type="body" sz="quarter" idx="14"/>
          </p:nvPr>
        </p:nvSpPr>
        <p:spPr/>
        <p:txBody>
          <a:bodyPr/>
          <a:lstStyle/>
          <a:p>
            <a:endParaRPr lang="en-GB"/>
          </a:p>
        </p:txBody>
      </p:sp>
      <p:sp>
        <p:nvSpPr>
          <p:cNvPr id="33" name="Text Placeholder 32"/>
          <p:cNvSpPr>
            <a:spLocks noGrp="1"/>
          </p:cNvSpPr>
          <p:nvPr>
            <p:ph type="body" sz="quarter" idx="15"/>
          </p:nvPr>
        </p:nvSpPr>
        <p:spPr/>
        <p:txBody>
          <a:bodyPr/>
          <a:lstStyle/>
          <a:p>
            <a:endParaRPr lang="en-GB"/>
          </a:p>
        </p:txBody>
      </p:sp>
      <p:sp>
        <p:nvSpPr>
          <p:cNvPr id="3" name="Date Placeholder 2"/>
          <p:cNvSpPr>
            <a:spLocks noGrp="1"/>
          </p:cNvSpPr>
          <p:nvPr>
            <p:ph type="dt" sz="half" idx="10"/>
          </p:nvPr>
        </p:nvSpPr>
        <p:spPr/>
        <p:txBody>
          <a:bodyPr/>
          <a:lstStyle/>
          <a:p>
            <a:fld id="{9313C9EE-16C5-4076-9BE9-6380BA105E9E}" type="datetime5">
              <a:rPr lang="en-GB" smtClean="0"/>
              <a:t>14-Oct-26</a:t>
            </a:fld>
            <a:endParaRPr lang="en-GB" dirty="0"/>
          </a:p>
        </p:txBody>
      </p:sp>
      <p:sp>
        <p:nvSpPr>
          <p:cNvPr id="4" name="Slide Number Placeholder 3"/>
          <p:cNvSpPr>
            <a:spLocks noGrp="1"/>
          </p:cNvSpPr>
          <p:nvPr>
            <p:ph type="sldNum" sz="quarter" idx="12"/>
          </p:nvPr>
        </p:nvSpPr>
        <p:spPr/>
        <p:txBody>
          <a:bodyPr/>
          <a:lstStyle/>
          <a:p>
            <a:fld id="{CC7D8618-F20C-406E-B464-04F15D14577A}" type="slidenum">
              <a:rPr lang="en-GB" smtClean="0"/>
              <a:t>6</a:t>
            </a:fld>
            <a:endParaRPr lang="en-GB" dirty="0"/>
          </a:p>
        </p:txBody>
      </p:sp>
      <p:pic>
        <p:nvPicPr>
          <p:cNvPr id="1047" name="Picture 23" descr="page4image4910256">
            <a:extLst>
              <a:ext uri="{FF2B5EF4-FFF2-40B4-BE49-F238E27FC236}">
                <a16:creationId xmlns:a16="http://schemas.microsoft.com/office/drawing/2014/main" id="{98AF2B09-CF37-B343-EC2E-4B734017F5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01850" y="-4517934"/>
            <a:ext cx="5425649" cy="50707"/>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page4image4905264">
            <a:extLst>
              <a:ext uri="{FF2B5EF4-FFF2-40B4-BE49-F238E27FC236}">
                <a16:creationId xmlns:a16="http://schemas.microsoft.com/office/drawing/2014/main" id="{31E2F7EA-1D63-882D-B437-76124B8D81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66944" y="-4517934"/>
            <a:ext cx="5679184" cy="50707"/>
          </a:xfrm>
          <a:prstGeom prst="rect">
            <a:avLst/>
          </a:prstGeom>
          <a:noFill/>
          <a:extLst>
            <a:ext uri="{909E8E84-426E-40DD-AFC4-6F175D3DCCD1}">
              <a14:hiddenFill xmlns:a14="http://schemas.microsoft.com/office/drawing/2010/main">
                <a:solidFill>
                  <a:srgbClr val="FFFFFF"/>
                </a:solidFill>
              </a14:hiddenFill>
            </a:ext>
          </a:extLst>
        </p:spPr>
      </p:pic>
      <p:pic>
        <p:nvPicPr>
          <p:cNvPr id="1049" name="Picture 25" descr="page4image4911296">
            <a:extLst>
              <a:ext uri="{FF2B5EF4-FFF2-40B4-BE49-F238E27FC236}">
                <a16:creationId xmlns:a16="http://schemas.microsoft.com/office/drawing/2014/main" id="{243CF784-E399-287D-275F-F8EA0A4B67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34868" y="-4517934"/>
            <a:ext cx="5476356"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page4image4911088">
            <a:extLst>
              <a:ext uri="{FF2B5EF4-FFF2-40B4-BE49-F238E27FC236}">
                <a16:creationId xmlns:a16="http://schemas.microsoft.com/office/drawing/2014/main" id="{D8459007-12ED-5D86-E15B-CCF74925DC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01850" y="-4517934"/>
            <a:ext cx="5425649"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1" name="Picture 27" descr="page4image4910880">
            <a:extLst>
              <a:ext uri="{FF2B5EF4-FFF2-40B4-BE49-F238E27FC236}">
                <a16:creationId xmlns:a16="http://schemas.microsoft.com/office/drawing/2014/main" id="{B093211E-8D7A-6CBB-CDC6-C78AA1C7C3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66944" y="-4517934"/>
            <a:ext cx="5679184"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page4image4910672">
            <a:extLst>
              <a:ext uri="{FF2B5EF4-FFF2-40B4-BE49-F238E27FC236}">
                <a16:creationId xmlns:a16="http://schemas.microsoft.com/office/drawing/2014/main" id="{D74B961D-E9D0-9FFD-1F3F-43257899A2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34868" y="-4517934"/>
            <a:ext cx="5476356"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3" name="Picture 29" descr="page4image4910464">
            <a:extLst>
              <a:ext uri="{FF2B5EF4-FFF2-40B4-BE49-F238E27FC236}">
                <a16:creationId xmlns:a16="http://schemas.microsoft.com/office/drawing/2014/main" id="{30214896-A297-D05E-76A6-F70D0C75D8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01850" y="-4517934"/>
            <a:ext cx="5425649"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page4image4910048">
            <a:extLst>
              <a:ext uri="{FF2B5EF4-FFF2-40B4-BE49-F238E27FC236}">
                <a16:creationId xmlns:a16="http://schemas.microsoft.com/office/drawing/2014/main" id="{D8A2F2CD-750B-1A31-B3BB-4D7DA75CA5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66944" y="-4517934"/>
            <a:ext cx="5679184"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5" name="Picture 31" descr="page4image4912752">
            <a:extLst>
              <a:ext uri="{FF2B5EF4-FFF2-40B4-BE49-F238E27FC236}">
                <a16:creationId xmlns:a16="http://schemas.microsoft.com/office/drawing/2014/main" id="{0550C0A2-9475-2796-3D30-16C7DB2F4D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34868" y="-4517934"/>
            <a:ext cx="5476356"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page4image4912960">
            <a:extLst>
              <a:ext uri="{FF2B5EF4-FFF2-40B4-BE49-F238E27FC236}">
                <a16:creationId xmlns:a16="http://schemas.microsoft.com/office/drawing/2014/main" id="{17EAF4EA-50CC-44D5-29B8-A0B1DE412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01850" y="-4517934"/>
            <a:ext cx="5425649"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7" name="Picture 33" descr="page4image4913168">
            <a:extLst>
              <a:ext uri="{FF2B5EF4-FFF2-40B4-BE49-F238E27FC236}">
                <a16:creationId xmlns:a16="http://schemas.microsoft.com/office/drawing/2014/main" id="{021CEFD6-F339-35A3-B631-B55B195368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66944" y="-4517934"/>
            <a:ext cx="5679184"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page4image4913376">
            <a:extLst>
              <a:ext uri="{FF2B5EF4-FFF2-40B4-BE49-F238E27FC236}">
                <a16:creationId xmlns:a16="http://schemas.microsoft.com/office/drawing/2014/main" id="{72C95E51-9A3D-0E31-2BA0-CC2A1039A56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34868" y="-4517934"/>
            <a:ext cx="5476356" cy="50707"/>
          </a:xfrm>
          <a:prstGeom prst="rect">
            <a:avLst/>
          </a:prstGeom>
          <a:noFill/>
          <a:extLst>
            <a:ext uri="{909E8E84-426E-40DD-AFC4-6F175D3DCCD1}">
              <a14:hiddenFill xmlns:a14="http://schemas.microsoft.com/office/drawing/2010/main">
                <a:solidFill>
                  <a:srgbClr val="FFFFFF"/>
                </a:solidFill>
              </a14:hiddenFill>
            </a:ext>
          </a:extLst>
        </p:spPr>
      </p:pic>
      <p:pic>
        <p:nvPicPr>
          <p:cNvPr id="1059" name="Picture 35" descr="page4image4913584">
            <a:extLst>
              <a:ext uri="{FF2B5EF4-FFF2-40B4-BE49-F238E27FC236}">
                <a16:creationId xmlns:a16="http://schemas.microsoft.com/office/drawing/2014/main" id="{246CEC59-5F6C-E885-9A69-ABC19A5DC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01850" y="-4517934"/>
            <a:ext cx="5425649" cy="50707"/>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page4image4913792">
            <a:extLst>
              <a:ext uri="{FF2B5EF4-FFF2-40B4-BE49-F238E27FC236}">
                <a16:creationId xmlns:a16="http://schemas.microsoft.com/office/drawing/2014/main" id="{3BE57B6E-8400-377B-67D8-9BB7C60528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66944" y="-4517934"/>
            <a:ext cx="5679184" cy="50707"/>
          </a:xfrm>
          <a:prstGeom prst="rect">
            <a:avLst/>
          </a:prstGeom>
          <a:noFill/>
          <a:extLst>
            <a:ext uri="{909E8E84-426E-40DD-AFC4-6F175D3DCCD1}">
              <a14:hiddenFill xmlns:a14="http://schemas.microsoft.com/office/drawing/2010/main">
                <a:solidFill>
                  <a:srgbClr val="FFFFFF"/>
                </a:solidFill>
              </a14:hiddenFill>
            </a:ext>
          </a:extLst>
        </p:spPr>
      </p:pic>
      <p:pic>
        <p:nvPicPr>
          <p:cNvPr id="1061" name="Picture 37" descr="page4image4914000">
            <a:extLst>
              <a:ext uri="{FF2B5EF4-FFF2-40B4-BE49-F238E27FC236}">
                <a16:creationId xmlns:a16="http://schemas.microsoft.com/office/drawing/2014/main" id="{1B892C87-F616-F9C3-338E-F215A201B3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34868" y="-4517934"/>
            <a:ext cx="5476356" cy="50707"/>
          </a:xfrm>
          <a:prstGeom prst="rect">
            <a:avLst/>
          </a:prstGeom>
          <a:noFill/>
          <a:extLst>
            <a:ext uri="{909E8E84-426E-40DD-AFC4-6F175D3DCCD1}">
              <a14:hiddenFill xmlns:a14="http://schemas.microsoft.com/office/drawing/2010/main">
                <a:solidFill>
                  <a:srgbClr val="FFFFFF"/>
                </a:solidFill>
              </a14:hiddenFill>
            </a:ext>
          </a:extLst>
        </p:spPr>
      </p:pic>
      <p:pic>
        <p:nvPicPr>
          <p:cNvPr id="1062" name="Picture 38" descr="page4image4914208">
            <a:extLst>
              <a:ext uri="{FF2B5EF4-FFF2-40B4-BE49-F238E27FC236}">
                <a16:creationId xmlns:a16="http://schemas.microsoft.com/office/drawing/2014/main" id="{141D897A-E0C0-0BE7-69A9-A65150F581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01850" y="-4517934"/>
            <a:ext cx="5425649" cy="50707"/>
          </a:xfrm>
          <a:prstGeom prst="rect">
            <a:avLst/>
          </a:prstGeom>
          <a:noFill/>
          <a:extLst>
            <a:ext uri="{909E8E84-426E-40DD-AFC4-6F175D3DCCD1}">
              <a14:hiddenFill xmlns:a14="http://schemas.microsoft.com/office/drawing/2010/main">
                <a:solidFill>
                  <a:srgbClr val="FFFFFF"/>
                </a:solidFill>
              </a14:hiddenFill>
            </a:ext>
          </a:extLst>
        </p:spPr>
      </p:pic>
      <p:pic>
        <p:nvPicPr>
          <p:cNvPr id="1063" name="Picture 39" descr="page4image4914416">
            <a:extLst>
              <a:ext uri="{FF2B5EF4-FFF2-40B4-BE49-F238E27FC236}">
                <a16:creationId xmlns:a16="http://schemas.microsoft.com/office/drawing/2014/main" id="{06438DFF-44B9-D0CF-ADC6-830AD9FF98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66944" y="-4517934"/>
            <a:ext cx="5679184" cy="50707"/>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descr="page4image4914624">
            <a:extLst>
              <a:ext uri="{FF2B5EF4-FFF2-40B4-BE49-F238E27FC236}">
                <a16:creationId xmlns:a16="http://schemas.microsoft.com/office/drawing/2014/main" id="{EA5DAD59-91C2-96B5-A70A-92F5DCDE86C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34868" y="-4517934"/>
            <a:ext cx="5476356" cy="50707"/>
          </a:xfrm>
          <a:prstGeom prst="rect">
            <a:avLst/>
          </a:prstGeom>
          <a:noFill/>
          <a:extLst>
            <a:ext uri="{909E8E84-426E-40DD-AFC4-6F175D3DCCD1}">
              <a14:hiddenFill xmlns:a14="http://schemas.microsoft.com/office/drawing/2010/main">
                <a:solidFill>
                  <a:srgbClr val="FFFFFF"/>
                </a:solidFill>
              </a14:hiddenFill>
            </a:ext>
          </a:extLst>
        </p:spPr>
      </p:pic>
      <p:pic>
        <p:nvPicPr>
          <p:cNvPr id="1065" name="Picture 41" descr="page4image4914832">
            <a:extLst>
              <a:ext uri="{FF2B5EF4-FFF2-40B4-BE49-F238E27FC236}">
                <a16:creationId xmlns:a16="http://schemas.microsoft.com/office/drawing/2014/main" id="{BBFCC411-80EC-87D5-DF35-BFF1C8A3BF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01850" y="-4517934"/>
            <a:ext cx="5425649" cy="50707"/>
          </a:xfrm>
          <a:prstGeom prst="rect">
            <a:avLst/>
          </a:prstGeom>
          <a:noFill/>
          <a:extLst>
            <a:ext uri="{909E8E84-426E-40DD-AFC4-6F175D3DCCD1}">
              <a14:hiddenFill xmlns:a14="http://schemas.microsoft.com/office/drawing/2010/main">
                <a:solidFill>
                  <a:srgbClr val="FFFFFF"/>
                </a:solidFill>
              </a14:hiddenFill>
            </a:ext>
          </a:extLst>
        </p:spPr>
      </p:pic>
      <p:pic>
        <p:nvPicPr>
          <p:cNvPr id="1066" name="Picture 42" descr="page4image4537376">
            <a:extLst>
              <a:ext uri="{FF2B5EF4-FFF2-40B4-BE49-F238E27FC236}">
                <a16:creationId xmlns:a16="http://schemas.microsoft.com/office/drawing/2014/main" id="{96788E93-FB09-16E9-3B95-6A0C8C170B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66944" y="-4517934"/>
            <a:ext cx="5679184" cy="50707"/>
          </a:xfrm>
          <a:prstGeom prst="rect">
            <a:avLst/>
          </a:prstGeom>
          <a:noFill/>
          <a:extLst>
            <a:ext uri="{909E8E84-426E-40DD-AFC4-6F175D3DCCD1}">
              <a14:hiddenFill xmlns:a14="http://schemas.microsoft.com/office/drawing/2010/main">
                <a:solidFill>
                  <a:srgbClr val="FFFFFF"/>
                </a:solidFill>
              </a14:hiddenFill>
            </a:ext>
          </a:extLst>
        </p:spPr>
      </p:pic>
      <p:pic>
        <p:nvPicPr>
          <p:cNvPr id="1067" name="Picture 43" descr="page4image4530928">
            <a:extLst>
              <a:ext uri="{FF2B5EF4-FFF2-40B4-BE49-F238E27FC236}">
                <a16:creationId xmlns:a16="http://schemas.microsoft.com/office/drawing/2014/main" id="{AD14EC76-D36C-DB58-87CF-9D35884692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34868" y="-4517934"/>
            <a:ext cx="5476356" cy="50707"/>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 descr="page4image4910256">
            <a:extLst>
              <a:ext uri="{FF2B5EF4-FFF2-40B4-BE49-F238E27FC236}">
                <a16:creationId xmlns:a16="http://schemas.microsoft.com/office/drawing/2014/main" id="{8FBD3B13-C93F-D5D9-13A2-BD235C344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589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age4image4905264">
            <a:extLst>
              <a:ext uri="{FF2B5EF4-FFF2-40B4-BE49-F238E27FC236}">
                <a16:creationId xmlns:a16="http://schemas.microsoft.com/office/drawing/2014/main" id="{C8F973DC-39F8-003A-C248-D1A83172C5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2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page4image4911296">
            <a:extLst>
              <a:ext uri="{FF2B5EF4-FFF2-40B4-BE49-F238E27FC236}">
                <a16:creationId xmlns:a16="http://schemas.microsoft.com/office/drawing/2014/main" id="{7F5509B8-ABEC-16E2-817D-B7D0C40575E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age4image4911088">
            <a:extLst>
              <a:ext uri="{FF2B5EF4-FFF2-40B4-BE49-F238E27FC236}">
                <a16:creationId xmlns:a16="http://schemas.microsoft.com/office/drawing/2014/main" id="{3348F736-9162-21A0-8C7C-B89EFDD17B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589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page4image4910880">
            <a:extLst>
              <a:ext uri="{FF2B5EF4-FFF2-40B4-BE49-F238E27FC236}">
                <a16:creationId xmlns:a16="http://schemas.microsoft.com/office/drawing/2014/main" id="{BDA82EB6-07D7-71CB-029B-1924771229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2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age4image4910672">
            <a:extLst>
              <a:ext uri="{FF2B5EF4-FFF2-40B4-BE49-F238E27FC236}">
                <a16:creationId xmlns:a16="http://schemas.microsoft.com/office/drawing/2014/main" id="{34077C20-5DB1-7B15-D774-A8C51564B5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page4image4910464">
            <a:extLst>
              <a:ext uri="{FF2B5EF4-FFF2-40B4-BE49-F238E27FC236}">
                <a16:creationId xmlns:a16="http://schemas.microsoft.com/office/drawing/2014/main" id="{241D3073-34C7-8491-80EB-D718827111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589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age4image4910048">
            <a:extLst>
              <a:ext uri="{FF2B5EF4-FFF2-40B4-BE49-F238E27FC236}">
                <a16:creationId xmlns:a16="http://schemas.microsoft.com/office/drawing/2014/main" id="{A77AEA72-1A56-ED2C-1589-4CDB9431A1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2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page4image4912752">
            <a:extLst>
              <a:ext uri="{FF2B5EF4-FFF2-40B4-BE49-F238E27FC236}">
                <a16:creationId xmlns:a16="http://schemas.microsoft.com/office/drawing/2014/main" id="{CF100538-7835-928C-9F77-97883A6899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age4image4912960">
            <a:extLst>
              <a:ext uri="{FF2B5EF4-FFF2-40B4-BE49-F238E27FC236}">
                <a16:creationId xmlns:a16="http://schemas.microsoft.com/office/drawing/2014/main" id="{EDFFAFFD-E5E3-3F0F-0691-7E895557D3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589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page4image4913168">
            <a:extLst>
              <a:ext uri="{FF2B5EF4-FFF2-40B4-BE49-F238E27FC236}">
                <a16:creationId xmlns:a16="http://schemas.microsoft.com/office/drawing/2014/main" id="{778DC58B-2F16-39CB-3A99-4DF55AE7BE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2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page4image4913376">
            <a:extLst>
              <a:ext uri="{FF2B5EF4-FFF2-40B4-BE49-F238E27FC236}">
                <a16:creationId xmlns:a16="http://schemas.microsoft.com/office/drawing/2014/main" id="{1A7E845B-6657-69BF-4525-A72E900903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3" descr="page4image4913584">
            <a:extLst>
              <a:ext uri="{FF2B5EF4-FFF2-40B4-BE49-F238E27FC236}">
                <a16:creationId xmlns:a16="http://schemas.microsoft.com/office/drawing/2014/main" id="{8B3BECCB-C2F0-CA35-F71E-2688B2CDB2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589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age4image4913792">
            <a:extLst>
              <a:ext uri="{FF2B5EF4-FFF2-40B4-BE49-F238E27FC236}">
                <a16:creationId xmlns:a16="http://schemas.microsoft.com/office/drawing/2014/main" id="{B905E21B-EE8F-6082-7BCC-CE2B48208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2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39" name="Picture 15" descr="page4image4914000">
            <a:extLst>
              <a:ext uri="{FF2B5EF4-FFF2-40B4-BE49-F238E27FC236}">
                <a16:creationId xmlns:a16="http://schemas.microsoft.com/office/drawing/2014/main" id="{9882D12B-B18B-2A3C-6DA0-19D0189ADB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page4image4914208">
            <a:extLst>
              <a:ext uri="{FF2B5EF4-FFF2-40B4-BE49-F238E27FC236}">
                <a16:creationId xmlns:a16="http://schemas.microsoft.com/office/drawing/2014/main" id="{2F48CA78-B62C-9145-0873-F65D69971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589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descr="page4image4914416">
            <a:extLst>
              <a:ext uri="{FF2B5EF4-FFF2-40B4-BE49-F238E27FC236}">
                <a16:creationId xmlns:a16="http://schemas.microsoft.com/office/drawing/2014/main" id="{BA974AC0-56A4-BE87-CF4D-61FDDDC5A2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2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page4image4914624">
            <a:extLst>
              <a:ext uri="{FF2B5EF4-FFF2-40B4-BE49-F238E27FC236}">
                <a16:creationId xmlns:a16="http://schemas.microsoft.com/office/drawing/2014/main" id="{119F562D-74B3-1FC9-A3B1-65791D336F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descr="page4image4914832">
            <a:extLst>
              <a:ext uri="{FF2B5EF4-FFF2-40B4-BE49-F238E27FC236}">
                <a16:creationId xmlns:a16="http://schemas.microsoft.com/office/drawing/2014/main" id="{DDA797F4-0412-B33D-BD81-C5ADBF23BB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3589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page4image4537376">
            <a:extLst>
              <a:ext uri="{FF2B5EF4-FFF2-40B4-BE49-F238E27FC236}">
                <a16:creationId xmlns:a16="http://schemas.microsoft.com/office/drawing/2014/main" id="{F8A3F711-AA66-A347-8B45-30D6FF20E8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24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descr="page4image4530928">
            <a:extLst>
              <a:ext uri="{FF2B5EF4-FFF2-40B4-BE49-F238E27FC236}">
                <a16:creationId xmlns:a16="http://schemas.microsoft.com/office/drawing/2014/main" id="{FBFB7B30-CE2F-F3B0-735A-95FB060444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371600" cy="12700"/>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9">
            <a:extLst>
              <a:ext uri="{FF2B5EF4-FFF2-40B4-BE49-F238E27FC236}">
                <a16:creationId xmlns:a16="http://schemas.microsoft.com/office/drawing/2014/main" id="{B06B4F02-7890-3ADE-53C6-15580A800CFB}"/>
              </a:ext>
            </a:extLst>
          </p:cNvPr>
          <p:cNvSpPr>
            <a:spLocks noGrp="1"/>
          </p:cNvSpPr>
          <p:nvPr>
            <p:ph type="body" sz="quarter" idx="13"/>
          </p:nvPr>
        </p:nvSpPr>
        <p:spPr>
          <a:xfrm>
            <a:off x="1116602" y="6597962"/>
            <a:ext cx="3395577" cy="258763"/>
          </a:xfrm>
        </p:spPr>
        <p:txBody>
          <a:bodyPr/>
          <a:lstStyle/>
          <a:p>
            <a:r>
              <a:rPr lang="en-GB" dirty="0"/>
              <a:t>Rustam Togambayev</a:t>
            </a:r>
          </a:p>
        </p:txBody>
      </p:sp>
      <p:pic>
        <p:nvPicPr>
          <p:cNvPr id="5" name="Picture 4">
            <a:extLst>
              <a:ext uri="{FF2B5EF4-FFF2-40B4-BE49-F238E27FC236}">
                <a16:creationId xmlns:a16="http://schemas.microsoft.com/office/drawing/2014/main" id="{A69F3628-BC54-1655-619D-0E417BCC8B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6023" y="1762596"/>
            <a:ext cx="8552312" cy="3661373"/>
          </a:xfrm>
          <a:prstGeom prst="rect">
            <a:avLst/>
          </a:prstGeom>
        </p:spPr>
      </p:pic>
      <p:sp>
        <p:nvSpPr>
          <p:cNvPr id="6" name="TextBox 5">
            <a:extLst>
              <a:ext uri="{FF2B5EF4-FFF2-40B4-BE49-F238E27FC236}">
                <a16:creationId xmlns:a16="http://schemas.microsoft.com/office/drawing/2014/main" id="{A595655C-FC38-5340-3EBB-DB7F9FECB320}"/>
              </a:ext>
            </a:extLst>
          </p:cNvPr>
          <p:cNvSpPr txBox="1"/>
          <p:nvPr/>
        </p:nvSpPr>
        <p:spPr>
          <a:xfrm>
            <a:off x="3336373" y="5810455"/>
            <a:ext cx="2591030" cy="400110"/>
          </a:xfrm>
          <a:prstGeom prst="rect">
            <a:avLst/>
          </a:prstGeom>
          <a:solidFill>
            <a:schemeClr val="accent2">
              <a:lumMod val="75000"/>
            </a:schemeClr>
          </a:solid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Digital transformation</a:t>
            </a:r>
          </a:p>
        </p:txBody>
      </p:sp>
    </p:spTree>
    <p:extLst>
      <p:ext uri="{BB962C8B-B14F-4D97-AF65-F5344CB8AC3E}">
        <p14:creationId xmlns:p14="http://schemas.microsoft.com/office/powerpoint/2010/main" val="3480231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p:cNvSpPr>
            <a:spLocks noGrp="1"/>
          </p:cNvSpPr>
          <p:nvPr>
            <p:ph type="title"/>
          </p:nvPr>
        </p:nvSpPr>
        <p:spPr>
          <a:xfrm>
            <a:off x="2" y="346273"/>
            <a:ext cx="9143998" cy="986719"/>
          </a:xfrm>
        </p:spPr>
        <p:txBody>
          <a:bodyPr anchor="t">
            <a:normAutofit/>
          </a:bodyPr>
          <a:lstStyle/>
          <a:p>
            <a:r>
              <a:rPr lang="en-US" b="1" dirty="0"/>
              <a:t>Architectural Framework</a:t>
            </a:r>
            <a:endParaRPr lang="en-GB" b="1" dirty="0"/>
          </a:p>
        </p:txBody>
      </p:sp>
      <p:sp>
        <p:nvSpPr>
          <p:cNvPr id="3" name="Date Placeholder 2"/>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fld id="{9313C9EE-16C5-4076-9BE9-6380BA105E9E}" type="datetime5">
              <a:rPr lang="en-GB" sz="1200" smtClean="0"/>
              <a:pPr>
                <a:lnSpc>
                  <a:spcPct val="90000"/>
                </a:lnSpc>
                <a:spcAft>
                  <a:spcPts val="600"/>
                </a:spcAft>
              </a:pPr>
              <a:t>14-Oct-26</a:t>
            </a:fld>
            <a:endParaRPr lang="en-GB" sz="1200"/>
          </a:p>
        </p:txBody>
      </p:sp>
      <p:sp>
        <p:nvSpPr>
          <p:cNvPr id="4" name="Slide Number Placeholder 3"/>
          <p:cNvSpPr>
            <a:spLocks noGrp="1"/>
          </p:cNvSpPr>
          <p:nvPr>
            <p:ph type="sldNum" sz="quarter" idx="12"/>
          </p:nvPr>
        </p:nvSpPr>
        <p:spPr>
          <a:xfrm>
            <a:off x="8545794" y="6597052"/>
            <a:ext cx="598206" cy="259435"/>
          </a:xfrm>
        </p:spPr>
        <p:txBody>
          <a:bodyPr anchor="ctr">
            <a:normAutofit/>
          </a:bodyPr>
          <a:lstStyle/>
          <a:p>
            <a:pPr>
              <a:lnSpc>
                <a:spcPct val="90000"/>
              </a:lnSpc>
              <a:spcAft>
                <a:spcPts val="600"/>
              </a:spcAft>
            </a:pPr>
            <a:fld id="{CC7D8618-F20C-406E-B464-04F15D14577A}" type="slidenum">
              <a:rPr lang="en-GB" sz="1100" smtClean="0"/>
              <a:pPr>
                <a:lnSpc>
                  <a:spcPct val="90000"/>
                </a:lnSpc>
                <a:spcAft>
                  <a:spcPts val="600"/>
                </a:spcAft>
              </a:pPr>
              <a:t>7</a:t>
            </a:fld>
            <a:endParaRPr lang="en-GB" sz="1100"/>
          </a:p>
        </p:txBody>
      </p:sp>
      <p:sp>
        <p:nvSpPr>
          <p:cNvPr id="38" name="Text Placeholder 5">
            <a:extLst>
              <a:ext uri="{FF2B5EF4-FFF2-40B4-BE49-F238E27FC236}">
                <a16:creationId xmlns:a16="http://schemas.microsoft.com/office/drawing/2014/main" id="{E2344A42-5BAF-6A44-6839-197AB20C6B56}"/>
              </a:ext>
            </a:extLst>
          </p:cNvPr>
          <p:cNvSpPr>
            <a:spLocks noGrp="1"/>
          </p:cNvSpPr>
          <p:nvPr>
            <p:ph type="body" sz="quarter" idx="13"/>
          </p:nvPr>
        </p:nvSpPr>
        <p:spPr>
          <a:xfrm>
            <a:off x="1116602" y="6597962"/>
            <a:ext cx="3395577" cy="258763"/>
          </a:xfrm>
        </p:spPr>
        <p:txBody>
          <a:bodyPr/>
          <a:lstStyle/>
          <a:p>
            <a:r>
              <a:rPr lang="en-US" dirty="0"/>
              <a:t>Rustam Togambayev &amp; Iyad Alomar</a:t>
            </a:r>
          </a:p>
        </p:txBody>
      </p:sp>
      <p:sp>
        <p:nvSpPr>
          <p:cNvPr id="40" name="Text Placeholder 6">
            <a:extLst>
              <a:ext uri="{FF2B5EF4-FFF2-40B4-BE49-F238E27FC236}">
                <a16:creationId xmlns:a16="http://schemas.microsoft.com/office/drawing/2014/main" id="{D966C72A-0EA9-9DFA-55A3-7DE31D27C23C}"/>
              </a:ext>
            </a:extLst>
          </p:cNvPr>
          <p:cNvSpPr>
            <a:spLocks noGrp="1"/>
          </p:cNvSpPr>
          <p:nvPr>
            <p:ph type="body" sz="quarter" idx="14"/>
          </p:nvPr>
        </p:nvSpPr>
        <p:spPr>
          <a:xfrm>
            <a:off x="1" y="2203"/>
            <a:ext cx="4571999" cy="258763"/>
          </a:xfrm>
        </p:spPr>
        <p:txBody>
          <a:bodyPr/>
          <a:lstStyle/>
          <a:p>
            <a:endParaRPr lang="en-US" dirty="0"/>
          </a:p>
        </p:txBody>
      </p:sp>
      <p:sp>
        <p:nvSpPr>
          <p:cNvPr id="42" name="Text Placeholder 7">
            <a:extLst>
              <a:ext uri="{FF2B5EF4-FFF2-40B4-BE49-F238E27FC236}">
                <a16:creationId xmlns:a16="http://schemas.microsoft.com/office/drawing/2014/main" id="{008C9D7F-95DF-07BE-3CDF-E7E73448315F}"/>
              </a:ext>
            </a:extLst>
          </p:cNvPr>
          <p:cNvSpPr>
            <a:spLocks noGrp="1"/>
          </p:cNvSpPr>
          <p:nvPr>
            <p:ph type="body" sz="quarter" idx="15"/>
          </p:nvPr>
        </p:nvSpPr>
        <p:spPr>
          <a:xfrm>
            <a:off x="4572000" y="2203"/>
            <a:ext cx="4571999" cy="258763"/>
          </a:xfrm>
        </p:spPr>
        <p:txBody>
          <a:bodyPr/>
          <a:lstStyle/>
          <a:p>
            <a:r>
              <a:rPr lang="en-US" dirty="0"/>
              <a:t>HCDT</a:t>
            </a:r>
          </a:p>
        </p:txBody>
      </p:sp>
      <p:pic>
        <p:nvPicPr>
          <p:cNvPr id="12" name="Picture 11">
            <a:extLst>
              <a:ext uri="{FF2B5EF4-FFF2-40B4-BE49-F238E27FC236}">
                <a16:creationId xmlns:a16="http://schemas.microsoft.com/office/drawing/2014/main" id="{5911E614-2760-A22A-669F-116ED4492E85}"/>
              </a:ext>
            </a:extLst>
          </p:cNvPr>
          <p:cNvPicPr>
            <a:picLocks noChangeAspect="1"/>
          </p:cNvPicPr>
          <p:nvPr/>
        </p:nvPicPr>
        <p:blipFill>
          <a:blip r:embed="rId3"/>
          <a:stretch>
            <a:fillRect/>
          </a:stretch>
        </p:blipFill>
        <p:spPr>
          <a:xfrm>
            <a:off x="299103" y="983729"/>
            <a:ext cx="8545794" cy="5375017"/>
          </a:xfrm>
          <a:prstGeom prst="rect">
            <a:avLst/>
          </a:prstGeom>
        </p:spPr>
      </p:pic>
    </p:spTree>
    <p:extLst>
      <p:ext uri="{BB962C8B-B14F-4D97-AF65-F5344CB8AC3E}">
        <p14:creationId xmlns:p14="http://schemas.microsoft.com/office/powerpoint/2010/main" val="30361710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F6A39-BCD6-2D8A-1742-D31E821AD8CA}"/>
            </a:ext>
          </a:extLst>
        </p:cNvPr>
        <p:cNvGrpSpPr/>
        <p:nvPr/>
      </p:nvGrpSpPr>
      <p:grpSpPr>
        <a:xfrm>
          <a:off x="0" y="0"/>
          <a:ext cx="0" cy="0"/>
          <a:chOff x="0" y="0"/>
          <a:chExt cx="0" cy="0"/>
        </a:xfrm>
      </p:grpSpPr>
      <p:sp>
        <p:nvSpPr>
          <p:cNvPr id="30" name="Title 29">
            <a:extLst>
              <a:ext uri="{FF2B5EF4-FFF2-40B4-BE49-F238E27FC236}">
                <a16:creationId xmlns:a16="http://schemas.microsoft.com/office/drawing/2014/main" id="{EA930F84-3CA0-4074-AD26-23D494A8EF7B}"/>
              </a:ext>
            </a:extLst>
          </p:cNvPr>
          <p:cNvSpPr>
            <a:spLocks noGrp="1"/>
          </p:cNvSpPr>
          <p:nvPr>
            <p:ph type="title"/>
          </p:nvPr>
        </p:nvSpPr>
        <p:spPr>
          <a:xfrm>
            <a:off x="2" y="346273"/>
            <a:ext cx="9143998" cy="986719"/>
          </a:xfrm>
        </p:spPr>
        <p:txBody>
          <a:bodyPr anchor="t">
            <a:normAutofit/>
          </a:bodyPr>
          <a:lstStyle/>
          <a:p>
            <a:r>
              <a:rPr lang="en-US" b="1" dirty="0"/>
              <a:t>Architectural Framework</a:t>
            </a:r>
            <a:endParaRPr lang="en-GB" b="1" dirty="0"/>
          </a:p>
        </p:txBody>
      </p:sp>
      <p:sp>
        <p:nvSpPr>
          <p:cNvPr id="3" name="Date Placeholder 2">
            <a:extLst>
              <a:ext uri="{FF2B5EF4-FFF2-40B4-BE49-F238E27FC236}">
                <a16:creationId xmlns:a16="http://schemas.microsoft.com/office/drawing/2014/main" id="{AEA36236-403C-2184-2266-91B1D54BB93C}"/>
              </a:ext>
            </a:extLst>
          </p:cNvPr>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fld id="{9313C9EE-16C5-4076-9BE9-6380BA105E9E}" type="datetime5">
              <a:rPr lang="en-GB" sz="1200" smtClean="0"/>
              <a:pPr>
                <a:lnSpc>
                  <a:spcPct val="90000"/>
                </a:lnSpc>
                <a:spcAft>
                  <a:spcPts val="600"/>
                </a:spcAft>
              </a:pPr>
              <a:t>14-Oct-26</a:t>
            </a:fld>
            <a:endParaRPr lang="en-GB" sz="1200"/>
          </a:p>
        </p:txBody>
      </p:sp>
      <p:sp>
        <p:nvSpPr>
          <p:cNvPr id="4" name="Slide Number Placeholder 3">
            <a:extLst>
              <a:ext uri="{FF2B5EF4-FFF2-40B4-BE49-F238E27FC236}">
                <a16:creationId xmlns:a16="http://schemas.microsoft.com/office/drawing/2014/main" id="{D4F3BB96-B2BD-EA03-5DBB-AE2B4A143912}"/>
              </a:ext>
            </a:extLst>
          </p:cNvPr>
          <p:cNvSpPr>
            <a:spLocks noGrp="1"/>
          </p:cNvSpPr>
          <p:nvPr>
            <p:ph type="sldNum" sz="quarter" idx="12"/>
          </p:nvPr>
        </p:nvSpPr>
        <p:spPr>
          <a:xfrm>
            <a:off x="8545794" y="6597052"/>
            <a:ext cx="598206" cy="259435"/>
          </a:xfrm>
        </p:spPr>
        <p:txBody>
          <a:bodyPr anchor="ctr">
            <a:normAutofit/>
          </a:bodyPr>
          <a:lstStyle/>
          <a:p>
            <a:pPr>
              <a:lnSpc>
                <a:spcPct val="90000"/>
              </a:lnSpc>
              <a:spcAft>
                <a:spcPts val="600"/>
              </a:spcAft>
            </a:pPr>
            <a:fld id="{CC7D8618-F20C-406E-B464-04F15D14577A}" type="slidenum">
              <a:rPr lang="en-GB" sz="1100" smtClean="0"/>
              <a:pPr>
                <a:lnSpc>
                  <a:spcPct val="90000"/>
                </a:lnSpc>
                <a:spcAft>
                  <a:spcPts val="600"/>
                </a:spcAft>
              </a:pPr>
              <a:t>8</a:t>
            </a:fld>
            <a:endParaRPr lang="en-GB" sz="1100"/>
          </a:p>
        </p:txBody>
      </p:sp>
      <p:sp>
        <p:nvSpPr>
          <p:cNvPr id="38" name="Text Placeholder 5">
            <a:extLst>
              <a:ext uri="{FF2B5EF4-FFF2-40B4-BE49-F238E27FC236}">
                <a16:creationId xmlns:a16="http://schemas.microsoft.com/office/drawing/2014/main" id="{C6DF9DCA-8923-A6BE-1C85-431801C8D144}"/>
              </a:ext>
            </a:extLst>
          </p:cNvPr>
          <p:cNvSpPr>
            <a:spLocks noGrp="1"/>
          </p:cNvSpPr>
          <p:nvPr>
            <p:ph type="body" sz="quarter" idx="13"/>
          </p:nvPr>
        </p:nvSpPr>
        <p:spPr>
          <a:xfrm>
            <a:off x="1116602" y="6597962"/>
            <a:ext cx="3395577" cy="258763"/>
          </a:xfrm>
        </p:spPr>
        <p:txBody>
          <a:bodyPr/>
          <a:lstStyle/>
          <a:p>
            <a:r>
              <a:rPr lang="en-US" dirty="0"/>
              <a:t>Rustam Togambayev &amp; Iyad Alomar</a:t>
            </a:r>
          </a:p>
        </p:txBody>
      </p:sp>
      <p:sp>
        <p:nvSpPr>
          <p:cNvPr id="40" name="Text Placeholder 6">
            <a:extLst>
              <a:ext uri="{FF2B5EF4-FFF2-40B4-BE49-F238E27FC236}">
                <a16:creationId xmlns:a16="http://schemas.microsoft.com/office/drawing/2014/main" id="{B516E49D-0489-E51C-722C-3F7C8B299F0F}"/>
              </a:ext>
            </a:extLst>
          </p:cNvPr>
          <p:cNvSpPr>
            <a:spLocks noGrp="1"/>
          </p:cNvSpPr>
          <p:nvPr>
            <p:ph type="body" sz="quarter" idx="14"/>
          </p:nvPr>
        </p:nvSpPr>
        <p:spPr>
          <a:xfrm>
            <a:off x="1" y="2203"/>
            <a:ext cx="4571999" cy="258763"/>
          </a:xfrm>
        </p:spPr>
        <p:txBody>
          <a:bodyPr/>
          <a:lstStyle/>
          <a:p>
            <a:endParaRPr lang="en-US" dirty="0"/>
          </a:p>
        </p:txBody>
      </p:sp>
      <p:sp>
        <p:nvSpPr>
          <p:cNvPr id="42" name="Text Placeholder 7">
            <a:extLst>
              <a:ext uri="{FF2B5EF4-FFF2-40B4-BE49-F238E27FC236}">
                <a16:creationId xmlns:a16="http://schemas.microsoft.com/office/drawing/2014/main" id="{F0F81C87-BBD5-64BF-9C7B-F4BA97F459E8}"/>
              </a:ext>
            </a:extLst>
          </p:cNvPr>
          <p:cNvSpPr>
            <a:spLocks noGrp="1"/>
          </p:cNvSpPr>
          <p:nvPr>
            <p:ph type="body" sz="quarter" idx="15"/>
          </p:nvPr>
        </p:nvSpPr>
        <p:spPr>
          <a:xfrm>
            <a:off x="4572000" y="2203"/>
            <a:ext cx="4571999" cy="258763"/>
          </a:xfrm>
        </p:spPr>
        <p:txBody>
          <a:bodyPr/>
          <a:lstStyle/>
          <a:p>
            <a:r>
              <a:rPr lang="en-US" dirty="0"/>
              <a:t>HCDT</a:t>
            </a:r>
          </a:p>
        </p:txBody>
      </p:sp>
      <p:pic>
        <p:nvPicPr>
          <p:cNvPr id="6" name="Picture 5">
            <a:extLst>
              <a:ext uri="{FF2B5EF4-FFF2-40B4-BE49-F238E27FC236}">
                <a16:creationId xmlns:a16="http://schemas.microsoft.com/office/drawing/2014/main" id="{F802BF93-86B1-F0B6-7BB2-A36F931549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64" y="1688860"/>
            <a:ext cx="9139436" cy="4551414"/>
          </a:xfrm>
          <a:prstGeom prst="rect">
            <a:avLst/>
          </a:prstGeom>
        </p:spPr>
      </p:pic>
      <p:sp>
        <p:nvSpPr>
          <p:cNvPr id="7" name="TextBox 6">
            <a:extLst>
              <a:ext uri="{FF2B5EF4-FFF2-40B4-BE49-F238E27FC236}">
                <a16:creationId xmlns:a16="http://schemas.microsoft.com/office/drawing/2014/main" id="{9317EDFC-87AB-F290-69DD-383A614941D6}"/>
              </a:ext>
            </a:extLst>
          </p:cNvPr>
          <p:cNvSpPr txBox="1"/>
          <p:nvPr/>
        </p:nvSpPr>
        <p:spPr>
          <a:xfrm>
            <a:off x="2814390" y="1233633"/>
            <a:ext cx="432682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The 5 –layer architectural Framework </a:t>
            </a:r>
          </a:p>
        </p:txBody>
      </p:sp>
    </p:spTree>
    <p:extLst>
      <p:ext uri="{BB962C8B-B14F-4D97-AF65-F5344CB8AC3E}">
        <p14:creationId xmlns:p14="http://schemas.microsoft.com/office/powerpoint/2010/main" val="3481664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p:cNvSpPr>
            <a:spLocks noGrp="1"/>
          </p:cNvSpPr>
          <p:nvPr>
            <p:ph type="title"/>
          </p:nvPr>
        </p:nvSpPr>
        <p:spPr>
          <a:xfrm>
            <a:off x="2" y="346273"/>
            <a:ext cx="9143998" cy="986719"/>
          </a:xfrm>
        </p:spPr>
        <p:txBody>
          <a:bodyPr anchor="t">
            <a:normAutofit/>
          </a:bodyPr>
          <a:lstStyle/>
          <a:p>
            <a:pPr hangingPunct="0"/>
            <a:r>
              <a:rPr lang="en-US" b="1" dirty="0"/>
              <a:t>Data acquisition and aggregation</a:t>
            </a:r>
            <a:endParaRPr lang="en-GB" b="1" dirty="0"/>
          </a:p>
        </p:txBody>
      </p:sp>
      <p:pic>
        <p:nvPicPr>
          <p:cNvPr id="2" name="Picture 2">
            <a:extLst>
              <a:ext uri="{FF2B5EF4-FFF2-40B4-BE49-F238E27FC236}">
                <a16:creationId xmlns:a16="http://schemas.microsoft.com/office/drawing/2014/main" id="{C8404075-9BEC-36C3-41D0-3667D6BE5888}"/>
              </a:ext>
            </a:extLst>
          </p:cNvPr>
          <p:cNvPicPr>
            <a:picLocks noChangeAspect="1"/>
          </p:cNvPicPr>
          <p:nvPr/>
        </p:nvPicPr>
        <p:blipFill>
          <a:blip r:embed="rId3"/>
          <a:stretch>
            <a:fillRect/>
          </a:stretch>
        </p:blipFill>
        <p:spPr>
          <a:xfrm>
            <a:off x="276028" y="1418299"/>
            <a:ext cx="8568869" cy="4777144"/>
          </a:xfrm>
          <a:prstGeom prst="rect">
            <a:avLst/>
          </a:prstGeom>
          <a:noFill/>
        </p:spPr>
      </p:pic>
      <p:sp>
        <p:nvSpPr>
          <p:cNvPr id="3" name="Date Placeholder 2"/>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fld id="{9313C9EE-16C5-4076-9BE9-6380BA105E9E}" type="datetime5">
              <a:rPr lang="en-GB" sz="1200" smtClean="0"/>
              <a:pPr>
                <a:lnSpc>
                  <a:spcPct val="90000"/>
                </a:lnSpc>
                <a:spcAft>
                  <a:spcPts val="600"/>
                </a:spcAft>
              </a:pPr>
              <a:t>14-Oct-26</a:t>
            </a:fld>
            <a:endParaRPr lang="en-GB" sz="1200"/>
          </a:p>
        </p:txBody>
      </p:sp>
      <p:sp>
        <p:nvSpPr>
          <p:cNvPr id="4" name="Slide Number Placeholder 3"/>
          <p:cNvSpPr>
            <a:spLocks noGrp="1"/>
          </p:cNvSpPr>
          <p:nvPr>
            <p:ph type="sldNum" sz="quarter" idx="12"/>
          </p:nvPr>
        </p:nvSpPr>
        <p:spPr>
          <a:xfrm>
            <a:off x="8545794" y="6597052"/>
            <a:ext cx="598206" cy="259435"/>
          </a:xfrm>
        </p:spPr>
        <p:txBody>
          <a:bodyPr anchor="ctr">
            <a:normAutofit/>
          </a:bodyPr>
          <a:lstStyle/>
          <a:p>
            <a:pPr>
              <a:lnSpc>
                <a:spcPct val="90000"/>
              </a:lnSpc>
              <a:spcAft>
                <a:spcPts val="600"/>
              </a:spcAft>
            </a:pPr>
            <a:fld id="{CC7D8618-F20C-406E-B464-04F15D14577A}" type="slidenum">
              <a:rPr lang="en-GB" sz="1100" smtClean="0"/>
              <a:pPr>
                <a:lnSpc>
                  <a:spcPct val="90000"/>
                </a:lnSpc>
                <a:spcAft>
                  <a:spcPts val="600"/>
                </a:spcAft>
              </a:pPr>
              <a:t>9</a:t>
            </a:fld>
            <a:endParaRPr lang="en-GB" sz="1100"/>
          </a:p>
        </p:txBody>
      </p:sp>
      <p:sp>
        <p:nvSpPr>
          <p:cNvPr id="38" name="Text Placeholder 5">
            <a:extLst>
              <a:ext uri="{FF2B5EF4-FFF2-40B4-BE49-F238E27FC236}">
                <a16:creationId xmlns:a16="http://schemas.microsoft.com/office/drawing/2014/main" id="{E2344A42-5BAF-6A44-6839-197AB20C6B56}"/>
              </a:ext>
            </a:extLst>
          </p:cNvPr>
          <p:cNvSpPr>
            <a:spLocks noGrp="1"/>
          </p:cNvSpPr>
          <p:nvPr>
            <p:ph type="body" sz="quarter" idx="13"/>
          </p:nvPr>
        </p:nvSpPr>
        <p:spPr>
          <a:xfrm>
            <a:off x="1116602" y="6597962"/>
            <a:ext cx="3395577" cy="258763"/>
          </a:xfrm>
        </p:spPr>
        <p:txBody>
          <a:bodyPr anchor="ctr">
            <a:normAutofit lnSpcReduction="10000"/>
          </a:bodyPr>
          <a:lstStyle/>
          <a:p>
            <a:r>
              <a:rPr lang="en-US" sz="1200" dirty="0"/>
              <a:t>Rustam Togambayev &amp; Iyad Alomar</a:t>
            </a:r>
          </a:p>
        </p:txBody>
      </p:sp>
      <p:sp>
        <p:nvSpPr>
          <p:cNvPr id="47" name="Text Placeholder 6">
            <a:extLst>
              <a:ext uri="{FF2B5EF4-FFF2-40B4-BE49-F238E27FC236}">
                <a16:creationId xmlns:a16="http://schemas.microsoft.com/office/drawing/2014/main" id="{8D23AAB1-131E-C6B5-AB28-A2255FDE22CC}"/>
              </a:ext>
            </a:extLst>
          </p:cNvPr>
          <p:cNvSpPr>
            <a:spLocks noGrp="1"/>
          </p:cNvSpPr>
          <p:nvPr>
            <p:ph type="body" sz="quarter" idx="14"/>
          </p:nvPr>
        </p:nvSpPr>
        <p:spPr>
          <a:xfrm>
            <a:off x="1" y="2203"/>
            <a:ext cx="4571999" cy="258763"/>
          </a:xfrm>
        </p:spPr>
        <p:txBody>
          <a:bodyPr/>
          <a:lstStyle/>
          <a:p>
            <a:endParaRPr lang="en-US"/>
          </a:p>
        </p:txBody>
      </p:sp>
      <p:sp>
        <p:nvSpPr>
          <p:cNvPr id="49" name="Text Placeholder 7">
            <a:extLst>
              <a:ext uri="{FF2B5EF4-FFF2-40B4-BE49-F238E27FC236}">
                <a16:creationId xmlns:a16="http://schemas.microsoft.com/office/drawing/2014/main" id="{256D5D11-2717-5C27-95DF-1D8EB6767D68}"/>
              </a:ext>
            </a:extLst>
          </p:cNvPr>
          <p:cNvSpPr>
            <a:spLocks noGrp="1"/>
          </p:cNvSpPr>
          <p:nvPr>
            <p:ph type="body" sz="quarter" idx="15"/>
          </p:nvPr>
        </p:nvSpPr>
        <p:spPr>
          <a:xfrm>
            <a:off x="4572000" y="2203"/>
            <a:ext cx="4571999" cy="258763"/>
          </a:xfrm>
        </p:spPr>
        <p:txBody>
          <a:bodyPr/>
          <a:lstStyle/>
          <a:p>
            <a:r>
              <a:rPr lang="en-US" dirty="0"/>
              <a:t>HCDT</a:t>
            </a:r>
          </a:p>
        </p:txBody>
      </p:sp>
    </p:spTree>
    <p:extLst>
      <p:ext uri="{BB962C8B-B14F-4D97-AF65-F5344CB8AC3E}">
        <p14:creationId xmlns:p14="http://schemas.microsoft.com/office/powerpoint/2010/main" val="39840745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AAD6F2-2196-7FE0-9127-A572E68B2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7" y="1358228"/>
            <a:ext cx="4666158" cy="4751360"/>
          </a:xfrm>
          <a:prstGeom prst="rect">
            <a:avLst/>
          </a:prstGeom>
          <a:noFill/>
        </p:spPr>
      </p:pic>
      <p:sp>
        <p:nvSpPr>
          <p:cNvPr id="30" name="Title 29"/>
          <p:cNvSpPr>
            <a:spLocks noGrp="1"/>
          </p:cNvSpPr>
          <p:nvPr>
            <p:ph type="title"/>
          </p:nvPr>
        </p:nvSpPr>
        <p:spPr>
          <a:xfrm>
            <a:off x="16917" y="341914"/>
            <a:ext cx="9143998" cy="986719"/>
          </a:xfrm>
        </p:spPr>
        <p:txBody>
          <a:bodyPr anchor="t">
            <a:normAutofit/>
          </a:bodyPr>
          <a:lstStyle/>
          <a:p>
            <a:pPr marL="0">
              <a:spcAft>
                <a:spcPts val="600"/>
              </a:spcAft>
            </a:pPr>
            <a:r>
              <a:rPr lang="en-US" sz="3400" b="1" dirty="0"/>
              <a:t>The competency model. Qualifying the Human Element </a:t>
            </a:r>
          </a:p>
        </p:txBody>
      </p:sp>
      <p:sp>
        <p:nvSpPr>
          <p:cNvPr id="2065" name="Text Placeholder 4">
            <a:extLst>
              <a:ext uri="{FF2B5EF4-FFF2-40B4-BE49-F238E27FC236}">
                <a16:creationId xmlns:a16="http://schemas.microsoft.com/office/drawing/2014/main" id="{7716A2BB-E737-22D5-F5FA-BF8B0DF22779}"/>
              </a:ext>
            </a:extLst>
          </p:cNvPr>
          <p:cNvSpPr>
            <a:spLocks noGrp="1"/>
          </p:cNvSpPr>
          <p:nvPr>
            <p:ph type="body" sz="quarter" idx="14"/>
          </p:nvPr>
        </p:nvSpPr>
        <p:spPr>
          <a:xfrm>
            <a:off x="2" y="2203"/>
            <a:ext cx="4571998" cy="258763"/>
          </a:xfrm>
        </p:spPr>
        <p:txBody>
          <a:bodyPr/>
          <a:lstStyle/>
          <a:p>
            <a:endParaRPr lang="en-US"/>
          </a:p>
        </p:txBody>
      </p:sp>
      <p:sp>
        <p:nvSpPr>
          <p:cNvPr id="2067" name="Text Placeholder 5">
            <a:extLst>
              <a:ext uri="{FF2B5EF4-FFF2-40B4-BE49-F238E27FC236}">
                <a16:creationId xmlns:a16="http://schemas.microsoft.com/office/drawing/2014/main" id="{D3F33BD5-A904-2E1A-E09D-6B0D974FFEC5}"/>
              </a:ext>
            </a:extLst>
          </p:cNvPr>
          <p:cNvSpPr>
            <a:spLocks noGrp="1"/>
          </p:cNvSpPr>
          <p:nvPr>
            <p:ph type="body" sz="quarter" idx="15"/>
          </p:nvPr>
        </p:nvSpPr>
        <p:spPr>
          <a:xfrm>
            <a:off x="4572001" y="2203"/>
            <a:ext cx="4571998" cy="258763"/>
          </a:xfrm>
        </p:spPr>
        <p:txBody>
          <a:bodyPr/>
          <a:lstStyle/>
          <a:p>
            <a:endParaRPr lang="en-US"/>
          </a:p>
        </p:txBody>
      </p:sp>
      <p:sp>
        <p:nvSpPr>
          <p:cNvPr id="3" name="Date Placeholder 2"/>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fld id="{9313C9EE-16C5-4076-9BE9-6380BA105E9E}" type="datetime5">
              <a:rPr lang="en-GB" sz="1200" smtClean="0"/>
              <a:pPr>
                <a:lnSpc>
                  <a:spcPct val="90000"/>
                </a:lnSpc>
                <a:spcAft>
                  <a:spcPts val="600"/>
                </a:spcAft>
              </a:pPr>
              <a:t>14-Oct-26</a:t>
            </a:fld>
            <a:endParaRPr lang="en-GB" sz="1200"/>
          </a:p>
        </p:txBody>
      </p:sp>
      <p:sp>
        <p:nvSpPr>
          <p:cNvPr id="4" name="Slide Number Placeholder 3"/>
          <p:cNvSpPr>
            <a:spLocks noGrp="1"/>
          </p:cNvSpPr>
          <p:nvPr>
            <p:ph type="sldNum" sz="quarter" idx="12"/>
          </p:nvPr>
        </p:nvSpPr>
        <p:spPr>
          <a:xfrm>
            <a:off x="8545794" y="6597052"/>
            <a:ext cx="598206" cy="259435"/>
          </a:xfrm>
        </p:spPr>
        <p:txBody>
          <a:bodyPr anchor="ctr">
            <a:normAutofit/>
          </a:bodyPr>
          <a:lstStyle/>
          <a:p>
            <a:pPr>
              <a:lnSpc>
                <a:spcPct val="90000"/>
              </a:lnSpc>
              <a:spcAft>
                <a:spcPts val="600"/>
              </a:spcAft>
            </a:pPr>
            <a:fld id="{CC7D8618-F20C-406E-B464-04F15D14577A}" type="slidenum">
              <a:rPr lang="en-GB" sz="1100" smtClean="0"/>
              <a:pPr>
                <a:lnSpc>
                  <a:spcPct val="90000"/>
                </a:lnSpc>
                <a:spcAft>
                  <a:spcPts val="600"/>
                </a:spcAft>
              </a:pPr>
              <a:t>10</a:t>
            </a:fld>
            <a:endParaRPr lang="en-GB" sz="1100"/>
          </a:p>
        </p:txBody>
      </p:sp>
      <p:sp>
        <p:nvSpPr>
          <p:cNvPr id="2054" name="Text Placeholder 5">
            <a:extLst>
              <a:ext uri="{FF2B5EF4-FFF2-40B4-BE49-F238E27FC236}">
                <a16:creationId xmlns:a16="http://schemas.microsoft.com/office/drawing/2014/main" id="{D8CCBEB4-1E60-788B-F5A4-B19201AF7FA3}"/>
              </a:ext>
            </a:extLst>
          </p:cNvPr>
          <p:cNvSpPr>
            <a:spLocks noGrp="1"/>
          </p:cNvSpPr>
          <p:nvPr>
            <p:ph type="body" sz="quarter" idx="13"/>
          </p:nvPr>
        </p:nvSpPr>
        <p:spPr>
          <a:xfrm>
            <a:off x="1116602" y="6597962"/>
            <a:ext cx="3395577" cy="258763"/>
          </a:xfrm>
        </p:spPr>
        <p:txBody>
          <a:bodyPr anchor="ctr">
            <a:normAutofit lnSpcReduction="10000"/>
          </a:bodyPr>
          <a:lstStyle/>
          <a:p>
            <a:r>
              <a:rPr lang="en-US" sz="1200" dirty="0"/>
              <a:t>Rustam Togambayev &amp; Iyad Alomar</a:t>
            </a:r>
          </a:p>
        </p:txBody>
      </p:sp>
      <p:grpSp>
        <p:nvGrpSpPr>
          <p:cNvPr id="8" name="Group 7">
            <a:extLst>
              <a:ext uri="{FF2B5EF4-FFF2-40B4-BE49-F238E27FC236}">
                <a16:creationId xmlns:a16="http://schemas.microsoft.com/office/drawing/2014/main" id="{110EE3B5-5697-D4F2-20E4-E229BE7CACF5}"/>
              </a:ext>
            </a:extLst>
          </p:cNvPr>
          <p:cNvGrpSpPr/>
          <p:nvPr/>
        </p:nvGrpSpPr>
        <p:grpSpPr>
          <a:xfrm>
            <a:off x="4789192" y="1103175"/>
            <a:ext cx="2032896" cy="1630345"/>
            <a:chOff x="4751035" y="1026421"/>
            <a:chExt cx="1697720" cy="1742113"/>
          </a:xfrm>
        </p:grpSpPr>
        <p:sp>
          <p:nvSpPr>
            <p:cNvPr id="5" name="Rounded Rectangle 4">
              <a:extLst>
                <a:ext uri="{FF2B5EF4-FFF2-40B4-BE49-F238E27FC236}">
                  <a16:creationId xmlns:a16="http://schemas.microsoft.com/office/drawing/2014/main" id="{FE9ECFC0-C471-BAF1-5C24-15BDED285769}"/>
                </a:ext>
              </a:extLst>
            </p:cNvPr>
            <p:cNvSpPr/>
            <p:nvPr/>
          </p:nvSpPr>
          <p:spPr>
            <a:xfrm>
              <a:off x="4762459" y="1390057"/>
              <a:ext cx="1686296" cy="1378477"/>
            </a:xfrm>
            <a:prstGeom prst="roundRect">
              <a:avLst/>
            </a:prstGeom>
            <a:solidFill>
              <a:schemeClr val="accent2">
                <a:lumMod val="50000"/>
              </a:schemeClr>
            </a:solidFill>
            <a:ln>
              <a:solidFill>
                <a:srgbClr val="214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chemeClr val="accent1"/>
                </a:buClr>
                <a:buSzPct val="100000"/>
              </a:pPr>
              <a:r>
                <a:rPr lang="en-US" sz="1200" dirty="0">
                  <a:solidFill>
                    <a:schemeClr val="bg1"/>
                  </a:solidFill>
                  <a:latin typeface="Arial" panose="020B0604020202020204" pitchFamily="34" charset="0"/>
                  <a:cs typeface="Arial" panose="020B0604020202020204" pitchFamily="34" charset="0"/>
                </a:rPr>
                <a:t>Checklist completion, missed steps, SOP deviation) (Source: VR, , video, sensors data</a:t>
              </a:r>
              <a:endParaRPr lang="en-US" sz="1200" dirty="0">
                <a:latin typeface="Arial" panose="020B0604020202020204" pitchFamily="34" charset="0"/>
                <a:cs typeface="Arial" panose="020B0604020202020204" pitchFamily="34" charset="0"/>
              </a:endParaRPr>
            </a:p>
          </p:txBody>
        </p:sp>
        <p:sp>
          <p:nvSpPr>
            <p:cNvPr id="7" name="Round Same-side Corner of Rectangle 6">
              <a:extLst>
                <a:ext uri="{FF2B5EF4-FFF2-40B4-BE49-F238E27FC236}">
                  <a16:creationId xmlns:a16="http://schemas.microsoft.com/office/drawing/2014/main" id="{CA9763EB-5E12-061C-23C0-5A4817CA69FE}"/>
                </a:ext>
              </a:extLst>
            </p:cNvPr>
            <p:cNvSpPr/>
            <p:nvPr/>
          </p:nvSpPr>
          <p:spPr>
            <a:xfrm>
              <a:off x="4751035" y="1026421"/>
              <a:ext cx="1686297" cy="566291"/>
            </a:xfrm>
            <a:prstGeom prst="round2Same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chemeClr val="accent1"/>
                </a:buClr>
                <a:buSzPct val="100000"/>
              </a:pPr>
              <a:r>
                <a:rPr lang="en-US" sz="1600" b="1" dirty="0">
                  <a:solidFill>
                    <a:srgbClr val="214673"/>
                  </a:solidFill>
                  <a:latin typeface="Arial" panose="020B0604020202020204" pitchFamily="34" charset="0"/>
                  <a:cs typeface="Arial" panose="020B0604020202020204" pitchFamily="34" charset="0"/>
                </a:rPr>
                <a:t>Procedural compliance </a:t>
              </a:r>
            </a:p>
          </p:txBody>
        </p:sp>
      </p:grpSp>
      <p:grpSp>
        <p:nvGrpSpPr>
          <p:cNvPr id="27" name="Group 26">
            <a:extLst>
              <a:ext uri="{FF2B5EF4-FFF2-40B4-BE49-F238E27FC236}">
                <a16:creationId xmlns:a16="http://schemas.microsoft.com/office/drawing/2014/main" id="{5DA1E689-2268-75E8-0923-7677E7A0AE42}"/>
              </a:ext>
            </a:extLst>
          </p:cNvPr>
          <p:cNvGrpSpPr/>
          <p:nvPr/>
        </p:nvGrpSpPr>
        <p:grpSpPr>
          <a:xfrm>
            <a:off x="4767091" y="2865466"/>
            <a:ext cx="2041320" cy="1723675"/>
            <a:chOff x="4643315" y="2865465"/>
            <a:chExt cx="1968939" cy="1723675"/>
          </a:xfrm>
        </p:grpSpPr>
        <p:sp>
          <p:nvSpPr>
            <p:cNvPr id="11" name="Rounded Rectangle 10">
              <a:extLst>
                <a:ext uri="{FF2B5EF4-FFF2-40B4-BE49-F238E27FC236}">
                  <a16:creationId xmlns:a16="http://schemas.microsoft.com/office/drawing/2014/main" id="{3FA8D8F2-BF81-C17D-21E1-2D3EE9E4629A}"/>
                </a:ext>
              </a:extLst>
            </p:cNvPr>
            <p:cNvSpPr/>
            <p:nvPr/>
          </p:nvSpPr>
          <p:spPr>
            <a:xfrm>
              <a:off x="4643315" y="3221542"/>
              <a:ext cx="1959365" cy="1367598"/>
            </a:xfrm>
            <a:prstGeom prst="roundRect">
              <a:avLst/>
            </a:prstGeom>
            <a:solidFill>
              <a:schemeClr val="accent2">
                <a:lumMod val="50000"/>
              </a:schemeClr>
            </a:solidFill>
            <a:ln>
              <a:solidFill>
                <a:srgbClr val="214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Arial" panose="020B0604020202020204" pitchFamily="34" charset="0"/>
                  <a:cs typeface="Arial" panose="020B0604020202020204" pitchFamily="34" charset="0"/>
                </a:rPr>
                <a:t>Reaction time, task time, delay contribution (Source: timestamps)</a:t>
              </a:r>
            </a:p>
          </p:txBody>
        </p:sp>
        <p:sp>
          <p:nvSpPr>
            <p:cNvPr id="14" name="Round Same-side Corner of Rectangle 13">
              <a:extLst>
                <a:ext uri="{FF2B5EF4-FFF2-40B4-BE49-F238E27FC236}">
                  <a16:creationId xmlns:a16="http://schemas.microsoft.com/office/drawing/2014/main" id="{80C2E79D-4DB0-A33B-E6D4-630501D75B3D}"/>
                </a:ext>
              </a:extLst>
            </p:cNvPr>
            <p:cNvSpPr/>
            <p:nvPr/>
          </p:nvSpPr>
          <p:spPr>
            <a:xfrm>
              <a:off x="4664311" y="2865465"/>
              <a:ext cx="1947943" cy="566291"/>
            </a:xfrm>
            <a:prstGeom prst="round2Same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chemeClr val="accent1"/>
                </a:buClr>
                <a:buSzPct val="100000"/>
              </a:pPr>
              <a:r>
                <a:rPr lang="en-US" sz="1600" b="1" dirty="0">
                  <a:solidFill>
                    <a:srgbClr val="214673"/>
                  </a:solidFill>
                  <a:latin typeface="Arial" panose="020B0604020202020204" pitchFamily="34" charset="0"/>
                  <a:cs typeface="Arial" panose="020B0604020202020204" pitchFamily="34" charset="0"/>
                </a:rPr>
                <a:t>Operation efficiency</a:t>
              </a:r>
            </a:p>
          </p:txBody>
        </p:sp>
      </p:grpSp>
      <p:grpSp>
        <p:nvGrpSpPr>
          <p:cNvPr id="28" name="Group 27">
            <a:extLst>
              <a:ext uri="{FF2B5EF4-FFF2-40B4-BE49-F238E27FC236}">
                <a16:creationId xmlns:a16="http://schemas.microsoft.com/office/drawing/2014/main" id="{221DFA04-E05D-EB20-1255-B6229176F5EA}"/>
              </a:ext>
            </a:extLst>
          </p:cNvPr>
          <p:cNvGrpSpPr/>
          <p:nvPr/>
        </p:nvGrpSpPr>
        <p:grpSpPr>
          <a:xfrm>
            <a:off x="4802989" y="4733724"/>
            <a:ext cx="2032523" cy="1592598"/>
            <a:chOff x="4623213" y="4704431"/>
            <a:chExt cx="1729242" cy="1786739"/>
          </a:xfrm>
        </p:grpSpPr>
        <p:sp>
          <p:nvSpPr>
            <p:cNvPr id="12" name="Rounded Rectangle 11">
              <a:extLst>
                <a:ext uri="{FF2B5EF4-FFF2-40B4-BE49-F238E27FC236}">
                  <a16:creationId xmlns:a16="http://schemas.microsoft.com/office/drawing/2014/main" id="{139AF3F5-867A-040E-0D15-76146917BB41}"/>
                </a:ext>
              </a:extLst>
            </p:cNvPr>
            <p:cNvSpPr/>
            <p:nvPr/>
          </p:nvSpPr>
          <p:spPr>
            <a:xfrm>
              <a:off x="4623213" y="5018479"/>
              <a:ext cx="1729242" cy="1472691"/>
            </a:xfrm>
            <a:prstGeom prst="roundRect">
              <a:avLst/>
            </a:prstGeom>
            <a:solidFill>
              <a:schemeClr val="accent2">
                <a:lumMod val="50000"/>
              </a:schemeClr>
            </a:solidFill>
            <a:ln>
              <a:solidFill>
                <a:srgbClr val="214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Arial" panose="020B0604020202020204" pitchFamily="34" charset="0"/>
                  <a:cs typeface="Arial" panose="020B0604020202020204" pitchFamily="34" charset="0"/>
                </a:rPr>
                <a:t>Unsafe proximity, speed deviations, hazard-zone exposure (source GSE)</a:t>
              </a:r>
            </a:p>
          </p:txBody>
        </p:sp>
        <p:sp>
          <p:nvSpPr>
            <p:cNvPr id="17" name="Round Same-side Corner of Rectangle 16">
              <a:extLst>
                <a:ext uri="{FF2B5EF4-FFF2-40B4-BE49-F238E27FC236}">
                  <a16:creationId xmlns:a16="http://schemas.microsoft.com/office/drawing/2014/main" id="{B29C0B9D-5F6A-7D99-7091-0B367ACE5C3B}"/>
                </a:ext>
              </a:extLst>
            </p:cNvPr>
            <p:cNvSpPr/>
            <p:nvPr/>
          </p:nvSpPr>
          <p:spPr>
            <a:xfrm>
              <a:off x="4631894" y="4704431"/>
              <a:ext cx="1709139" cy="566291"/>
            </a:xfrm>
            <a:prstGeom prst="round2Same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chemeClr val="accent1"/>
                </a:buClr>
                <a:buSzPct val="100000"/>
              </a:pPr>
              <a:r>
                <a:rPr lang="en-US" sz="1600" b="1" dirty="0">
                  <a:solidFill>
                    <a:srgbClr val="214673"/>
                  </a:solidFill>
                  <a:latin typeface="Arial" panose="020B0604020202020204" pitchFamily="34" charset="0"/>
                  <a:cs typeface="Arial" panose="020B0604020202020204" pitchFamily="34" charset="0"/>
                </a:rPr>
                <a:t>Safety </a:t>
              </a:r>
              <a:r>
                <a:rPr lang="en-US" sz="1600" b="1" dirty="0" err="1">
                  <a:solidFill>
                    <a:srgbClr val="214673"/>
                  </a:solidFill>
                  <a:latin typeface="Arial" panose="020B0604020202020204" pitchFamily="34" charset="0"/>
                  <a:cs typeface="Arial" panose="020B0604020202020204" pitchFamily="34" charset="0"/>
                </a:rPr>
                <a:t>behaviour</a:t>
              </a:r>
              <a:endParaRPr lang="en-US" sz="1600" b="1" dirty="0">
                <a:solidFill>
                  <a:srgbClr val="214673"/>
                </a:solidFill>
                <a:latin typeface="Arial" panose="020B0604020202020204" pitchFamily="34" charset="0"/>
                <a:cs typeface="Arial" panose="020B0604020202020204" pitchFamily="34" charset="0"/>
              </a:endParaRPr>
            </a:p>
          </p:txBody>
        </p:sp>
      </p:grpSp>
      <p:grpSp>
        <p:nvGrpSpPr>
          <p:cNvPr id="18" name="Group 17">
            <a:extLst>
              <a:ext uri="{FF2B5EF4-FFF2-40B4-BE49-F238E27FC236}">
                <a16:creationId xmlns:a16="http://schemas.microsoft.com/office/drawing/2014/main" id="{C86CE8D2-372B-C3CE-7AA0-22F15C3E3E63}"/>
              </a:ext>
            </a:extLst>
          </p:cNvPr>
          <p:cNvGrpSpPr/>
          <p:nvPr/>
        </p:nvGrpSpPr>
        <p:grpSpPr>
          <a:xfrm>
            <a:off x="6927018" y="1102456"/>
            <a:ext cx="2054503" cy="1631063"/>
            <a:chOff x="4754739" y="1039264"/>
            <a:chExt cx="1694016" cy="1905684"/>
          </a:xfrm>
        </p:grpSpPr>
        <p:sp>
          <p:nvSpPr>
            <p:cNvPr id="19" name="Rounded Rectangle 18">
              <a:extLst>
                <a:ext uri="{FF2B5EF4-FFF2-40B4-BE49-F238E27FC236}">
                  <a16:creationId xmlns:a16="http://schemas.microsoft.com/office/drawing/2014/main" id="{FA97F4C5-7982-413C-311E-51D16B45C936}"/>
                </a:ext>
              </a:extLst>
            </p:cNvPr>
            <p:cNvSpPr/>
            <p:nvPr/>
          </p:nvSpPr>
          <p:spPr>
            <a:xfrm>
              <a:off x="4762459" y="1390056"/>
              <a:ext cx="1686296" cy="1554892"/>
            </a:xfrm>
            <a:prstGeom prst="roundRect">
              <a:avLst/>
            </a:prstGeom>
            <a:solidFill>
              <a:schemeClr val="accent2">
                <a:lumMod val="50000"/>
              </a:schemeClr>
            </a:solidFill>
            <a:ln>
              <a:solidFill>
                <a:srgbClr val="214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Arial" panose="020B0604020202020204" pitchFamily="34" charset="0"/>
                  <a:cs typeface="Arial" panose="020B0604020202020204" pitchFamily="34" charset="0"/>
                </a:rPr>
                <a:t>GSE operation smoothness, interface/comms errors (source GSE data</a:t>
              </a:r>
            </a:p>
          </p:txBody>
        </p:sp>
        <p:sp>
          <p:nvSpPr>
            <p:cNvPr id="20" name="Round Same-side Corner of Rectangle 19">
              <a:extLst>
                <a:ext uri="{FF2B5EF4-FFF2-40B4-BE49-F238E27FC236}">
                  <a16:creationId xmlns:a16="http://schemas.microsoft.com/office/drawing/2014/main" id="{88CE0FE2-465C-4EC6-5DB1-89BDA08CCC9C}"/>
                </a:ext>
              </a:extLst>
            </p:cNvPr>
            <p:cNvSpPr/>
            <p:nvPr/>
          </p:nvSpPr>
          <p:spPr>
            <a:xfrm>
              <a:off x="4754739" y="1039264"/>
              <a:ext cx="1686297" cy="644628"/>
            </a:xfrm>
            <a:prstGeom prst="round2Same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chemeClr val="accent1"/>
                </a:buClr>
                <a:buSzPct val="100000"/>
              </a:pPr>
              <a:r>
                <a:rPr lang="en-US" sz="1600" b="1" dirty="0">
                  <a:solidFill>
                    <a:srgbClr val="214673"/>
                  </a:solidFill>
                  <a:latin typeface="Arial" panose="020B0604020202020204" pitchFamily="34" charset="0"/>
                  <a:cs typeface="Arial" panose="020B0604020202020204" pitchFamily="34" charset="0"/>
                </a:rPr>
                <a:t>Human-tech interaction </a:t>
              </a:r>
            </a:p>
          </p:txBody>
        </p:sp>
      </p:grpSp>
      <p:grpSp>
        <p:nvGrpSpPr>
          <p:cNvPr id="21" name="Group 20">
            <a:extLst>
              <a:ext uri="{FF2B5EF4-FFF2-40B4-BE49-F238E27FC236}">
                <a16:creationId xmlns:a16="http://schemas.microsoft.com/office/drawing/2014/main" id="{FDA3D49C-B902-4716-4188-9B68B397148B}"/>
              </a:ext>
            </a:extLst>
          </p:cNvPr>
          <p:cNvGrpSpPr/>
          <p:nvPr/>
        </p:nvGrpSpPr>
        <p:grpSpPr>
          <a:xfrm>
            <a:off x="6927018" y="2858566"/>
            <a:ext cx="2054662" cy="1730575"/>
            <a:chOff x="4820632" y="1062195"/>
            <a:chExt cx="1686296" cy="1752731"/>
          </a:xfrm>
        </p:grpSpPr>
        <p:sp>
          <p:nvSpPr>
            <p:cNvPr id="22" name="Rounded Rectangle 21">
              <a:extLst>
                <a:ext uri="{FF2B5EF4-FFF2-40B4-BE49-F238E27FC236}">
                  <a16:creationId xmlns:a16="http://schemas.microsoft.com/office/drawing/2014/main" id="{1A01F172-EAC3-271B-9FE6-CC46ABE6C311}"/>
                </a:ext>
              </a:extLst>
            </p:cNvPr>
            <p:cNvSpPr/>
            <p:nvPr/>
          </p:nvSpPr>
          <p:spPr>
            <a:xfrm>
              <a:off x="4820632" y="1390057"/>
              <a:ext cx="1686296" cy="1424869"/>
            </a:xfrm>
            <a:prstGeom prst="roundRect">
              <a:avLst/>
            </a:prstGeom>
            <a:solidFill>
              <a:schemeClr val="accent2">
                <a:lumMod val="50000"/>
              </a:schemeClr>
            </a:solidFill>
            <a:ln>
              <a:solidFill>
                <a:srgbClr val="214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Arial" panose="020B0604020202020204" pitchFamily="34" charset="0"/>
                  <a:cs typeface="Arial" panose="020B0604020202020204" pitchFamily="34" charset="0"/>
                </a:rPr>
                <a:t>Decay over time, recurrence of errors, improvement post-training (source GHSP)</a:t>
              </a:r>
            </a:p>
          </p:txBody>
        </p:sp>
        <p:sp>
          <p:nvSpPr>
            <p:cNvPr id="23" name="Round Same-side Corner of Rectangle 22">
              <a:extLst>
                <a:ext uri="{FF2B5EF4-FFF2-40B4-BE49-F238E27FC236}">
                  <a16:creationId xmlns:a16="http://schemas.microsoft.com/office/drawing/2014/main" id="{AE3F310E-2BCE-2D1B-2940-1C54D2412E90}"/>
                </a:ext>
              </a:extLst>
            </p:cNvPr>
            <p:cNvSpPr/>
            <p:nvPr/>
          </p:nvSpPr>
          <p:spPr>
            <a:xfrm>
              <a:off x="4828186" y="1062195"/>
              <a:ext cx="1678742" cy="566291"/>
            </a:xfrm>
            <a:prstGeom prst="round2Same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chemeClr val="accent1"/>
                </a:buClr>
                <a:buSzPct val="100000"/>
              </a:pPr>
              <a:r>
                <a:rPr lang="en-US" sz="1600" b="1" dirty="0">
                  <a:solidFill>
                    <a:srgbClr val="214673"/>
                  </a:solidFill>
                  <a:latin typeface="Arial" panose="020B0604020202020204" pitchFamily="34" charset="0"/>
                  <a:cs typeface="Arial" panose="020B0604020202020204" pitchFamily="34" charset="0"/>
                </a:rPr>
                <a:t>Learning trajectory</a:t>
              </a:r>
            </a:p>
          </p:txBody>
        </p:sp>
      </p:grpSp>
      <p:grpSp>
        <p:nvGrpSpPr>
          <p:cNvPr id="24" name="Group 23">
            <a:extLst>
              <a:ext uri="{FF2B5EF4-FFF2-40B4-BE49-F238E27FC236}">
                <a16:creationId xmlns:a16="http://schemas.microsoft.com/office/drawing/2014/main" id="{922D2622-F9E5-460D-FD60-904524F5D1CC}"/>
              </a:ext>
            </a:extLst>
          </p:cNvPr>
          <p:cNvGrpSpPr/>
          <p:nvPr/>
        </p:nvGrpSpPr>
        <p:grpSpPr>
          <a:xfrm>
            <a:off x="6936223" y="4733724"/>
            <a:ext cx="2045298" cy="1592598"/>
            <a:chOff x="4751036" y="1026421"/>
            <a:chExt cx="1697719" cy="1918527"/>
          </a:xfrm>
        </p:grpSpPr>
        <p:sp>
          <p:nvSpPr>
            <p:cNvPr id="25" name="Rounded Rectangle 24">
              <a:extLst>
                <a:ext uri="{FF2B5EF4-FFF2-40B4-BE49-F238E27FC236}">
                  <a16:creationId xmlns:a16="http://schemas.microsoft.com/office/drawing/2014/main" id="{F714617D-B930-5F3E-7E32-88082D672730}"/>
                </a:ext>
              </a:extLst>
            </p:cNvPr>
            <p:cNvSpPr/>
            <p:nvPr/>
          </p:nvSpPr>
          <p:spPr>
            <a:xfrm>
              <a:off x="4762459" y="1390056"/>
              <a:ext cx="1686296" cy="1554892"/>
            </a:xfrm>
            <a:prstGeom prst="roundRect">
              <a:avLst/>
            </a:prstGeom>
            <a:solidFill>
              <a:schemeClr val="accent2">
                <a:lumMod val="50000"/>
              </a:schemeClr>
            </a:solidFill>
            <a:ln>
              <a:solidFill>
                <a:srgbClr val="214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latin typeface="Arial" panose="020B0604020202020204" pitchFamily="34" charset="0"/>
                  <a:cs typeface="Arial" panose="020B0604020202020204" pitchFamily="34" charset="0"/>
                </a:rPr>
                <a:t>Performance under abnormal weather, malfunctions, time pressure </a:t>
              </a:r>
            </a:p>
          </p:txBody>
        </p:sp>
        <p:sp>
          <p:nvSpPr>
            <p:cNvPr id="26" name="Round Same-side Corner of Rectangle 25">
              <a:extLst>
                <a:ext uri="{FF2B5EF4-FFF2-40B4-BE49-F238E27FC236}">
                  <a16:creationId xmlns:a16="http://schemas.microsoft.com/office/drawing/2014/main" id="{CC2775C1-3770-4CDF-15D7-0EBF22C25BC2}"/>
                </a:ext>
              </a:extLst>
            </p:cNvPr>
            <p:cNvSpPr/>
            <p:nvPr/>
          </p:nvSpPr>
          <p:spPr>
            <a:xfrm>
              <a:off x="4751036" y="1026421"/>
              <a:ext cx="1686297" cy="566291"/>
            </a:xfrm>
            <a:prstGeom prst="round2Same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
                  <a:schemeClr val="accent1"/>
                </a:buClr>
                <a:buSzPct val="100000"/>
              </a:pPr>
              <a:r>
                <a:rPr lang="en-US" sz="1600" b="1" dirty="0">
                  <a:solidFill>
                    <a:srgbClr val="214673"/>
                  </a:solidFill>
                  <a:latin typeface="Arial" panose="020B0604020202020204" pitchFamily="34" charset="0"/>
                  <a:cs typeface="Arial" panose="020B0604020202020204" pitchFamily="34" charset="0"/>
                </a:rPr>
                <a:t>Resilience</a:t>
              </a:r>
              <a:r>
                <a:rPr lang="en-US" dirty="0">
                  <a:solidFill>
                    <a:schemeClr val="bg1"/>
                  </a:solidFill>
                  <a:latin typeface="Aptos" panose="020B0004020202020204" pitchFamily="34" charset="0"/>
                </a:rPr>
                <a:t> </a:t>
              </a:r>
            </a:p>
          </p:txBody>
        </p:sp>
      </p:grpSp>
    </p:spTree>
    <p:extLst>
      <p:ext uri="{BB962C8B-B14F-4D97-AF65-F5344CB8AC3E}">
        <p14:creationId xmlns:p14="http://schemas.microsoft.com/office/powerpoint/2010/main" val="103855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p:cNvSpPr>
            <a:spLocks noGrp="1"/>
          </p:cNvSpPr>
          <p:nvPr>
            <p:ph type="title"/>
          </p:nvPr>
        </p:nvSpPr>
        <p:spPr>
          <a:xfrm>
            <a:off x="2" y="346273"/>
            <a:ext cx="9143998" cy="986719"/>
          </a:xfrm>
        </p:spPr>
        <p:txBody>
          <a:bodyPr anchor="t">
            <a:normAutofit fontScale="90000"/>
          </a:bodyPr>
          <a:lstStyle/>
          <a:p>
            <a:r>
              <a:rPr lang="en-US" sz="4400" dirty="0"/>
              <a:t>The Mathematical Engine of Competency Score </a:t>
            </a:r>
            <a:endParaRPr lang="en-GB" sz="4400" dirty="0"/>
          </a:p>
        </p:txBody>
      </p:sp>
      <p:sp>
        <p:nvSpPr>
          <p:cNvPr id="3" name="Date Placeholder 2"/>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fld id="{9313C9EE-16C5-4076-9BE9-6380BA105E9E}" type="datetime5">
              <a:rPr lang="en-GB" sz="1200" smtClean="0"/>
              <a:pPr>
                <a:lnSpc>
                  <a:spcPct val="90000"/>
                </a:lnSpc>
                <a:spcAft>
                  <a:spcPts val="600"/>
                </a:spcAft>
              </a:pPr>
              <a:t>14-Oct-26</a:t>
            </a:fld>
            <a:endParaRPr lang="en-GB" sz="1200"/>
          </a:p>
        </p:txBody>
      </p:sp>
      <p:sp>
        <p:nvSpPr>
          <p:cNvPr id="4" name="Slide Number Placeholder 3"/>
          <p:cNvSpPr>
            <a:spLocks noGrp="1"/>
          </p:cNvSpPr>
          <p:nvPr>
            <p:ph type="sldNum" sz="quarter" idx="12"/>
          </p:nvPr>
        </p:nvSpPr>
        <p:spPr>
          <a:xfrm>
            <a:off x="8545794" y="6597052"/>
            <a:ext cx="598206" cy="259435"/>
          </a:xfrm>
        </p:spPr>
        <p:txBody>
          <a:bodyPr anchor="ctr">
            <a:normAutofit/>
          </a:bodyPr>
          <a:lstStyle/>
          <a:p>
            <a:pPr>
              <a:lnSpc>
                <a:spcPct val="90000"/>
              </a:lnSpc>
              <a:spcAft>
                <a:spcPts val="600"/>
              </a:spcAft>
            </a:pPr>
            <a:fld id="{CC7D8618-F20C-406E-B464-04F15D14577A}" type="slidenum">
              <a:rPr lang="en-GB" sz="1100" smtClean="0"/>
              <a:pPr>
                <a:lnSpc>
                  <a:spcPct val="90000"/>
                </a:lnSpc>
                <a:spcAft>
                  <a:spcPts val="600"/>
                </a:spcAft>
              </a:pPr>
              <a:t>11</a:t>
            </a:fld>
            <a:endParaRPr lang="en-GB" sz="1100"/>
          </a:p>
        </p:txBody>
      </p:sp>
      <p:sp>
        <p:nvSpPr>
          <p:cNvPr id="38" name="Text Placeholder 5">
            <a:extLst>
              <a:ext uri="{FF2B5EF4-FFF2-40B4-BE49-F238E27FC236}">
                <a16:creationId xmlns:a16="http://schemas.microsoft.com/office/drawing/2014/main" id="{377DB596-BC83-72E5-3BA4-746EF9BD0F1D}"/>
              </a:ext>
            </a:extLst>
          </p:cNvPr>
          <p:cNvSpPr>
            <a:spLocks noGrp="1"/>
          </p:cNvSpPr>
          <p:nvPr>
            <p:ph type="body" sz="quarter" idx="13"/>
          </p:nvPr>
        </p:nvSpPr>
        <p:spPr>
          <a:xfrm>
            <a:off x="1116602" y="6597962"/>
            <a:ext cx="3395577" cy="258763"/>
          </a:xfrm>
        </p:spPr>
        <p:txBody>
          <a:bodyPr/>
          <a:lstStyle/>
          <a:p>
            <a:r>
              <a:rPr lang="en-US" dirty="0"/>
              <a:t>Rustam Togambayev &amp; Iyad Alomar</a:t>
            </a:r>
          </a:p>
        </p:txBody>
      </p:sp>
      <p:sp>
        <p:nvSpPr>
          <p:cNvPr id="40" name="Text Placeholder 6">
            <a:extLst>
              <a:ext uri="{FF2B5EF4-FFF2-40B4-BE49-F238E27FC236}">
                <a16:creationId xmlns:a16="http://schemas.microsoft.com/office/drawing/2014/main" id="{DF4F31D3-6D1A-2D5E-2192-02E2858648F2}"/>
              </a:ext>
            </a:extLst>
          </p:cNvPr>
          <p:cNvSpPr>
            <a:spLocks noGrp="1"/>
          </p:cNvSpPr>
          <p:nvPr>
            <p:ph type="body" sz="quarter" idx="14"/>
          </p:nvPr>
        </p:nvSpPr>
        <p:spPr>
          <a:xfrm>
            <a:off x="1" y="2203"/>
            <a:ext cx="4571999" cy="258763"/>
          </a:xfrm>
        </p:spPr>
        <p:txBody>
          <a:bodyPr/>
          <a:lstStyle/>
          <a:p>
            <a:endParaRPr lang="en-US"/>
          </a:p>
        </p:txBody>
      </p:sp>
      <p:sp>
        <p:nvSpPr>
          <p:cNvPr id="42" name="Text Placeholder 7">
            <a:extLst>
              <a:ext uri="{FF2B5EF4-FFF2-40B4-BE49-F238E27FC236}">
                <a16:creationId xmlns:a16="http://schemas.microsoft.com/office/drawing/2014/main" id="{A9096BBB-847B-144C-1DE4-E88F92A8E779}"/>
              </a:ext>
            </a:extLst>
          </p:cNvPr>
          <p:cNvSpPr>
            <a:spLocks noGrp="1"/>
          </p:cNvSpPr>
          <p:nvPr>
            <p:ph type="body" sz="quarter" idx="15"/>
          </p:nvPr>
        </p:nvSpPr>
        <p:spPr>
          <a:xfrm>
            <a:off x="4572000" y="2203"/>
            <a:ext cx="4571999" cy="258763"/>
          </a:xfrm>
        </p:spPr>
        <p:txBody>
          <a:bodyPr/>
          <a:lstStyle/>
          <a:p>
            <a:endParaRPr lang="en-US"/>
          </a:p>
        </p:txBody>
      </p:sp>
      <p:pic>
        <p:nvPicPr>
          <p:cNvPr id="2" name="Picture 1">
            <a:extLst>
              <a:ext uri="{FF2B5EF4-FFF2-40B4-BE49-F238E27FC236}">
                <a16:creationId xmlns:a16="http://schemas.microsoft.com/office/drawing/2014/main" id="{0D5731E5-30B4-CE54-39C9-B2E41EC5E4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55" y="1923950"/>
            <a:ext cx="9097488" cy="3745329"/>
          </a:xfrm>
          <a:prstGeom prst="rect">
            <a:avLst/>
          </a:prstGeom>
        </p:spPr>
      </p:pic>
    </p:spTree>
    <p:extLst>
      <p:ext uri="{BB962C8B-B14F-4D97-AF65-F5344CB8AC3E}">
        <p14:creationId xmlns:p14="http://schemas.microsoft.com/office/powerpoint/2010/main" val="3655725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CBCC4-C05F-4F0D-DD75-D5AB37466786}"/>
            </a:ext>
          </a:extLst>
        </p:cNvPr>
        <p:cNvGrpSpPr/>
        <p:nvPr/>
      </p:nvGrpSpPr>
      <p:grpSpPr>
        <a:xfrm>
          <a:off x="0" y="0"/>
          <a:ext cx="0" cy="0"/>
          <a:chOff x="0" y="0"/>
          <a:chExt cx="0" cy="0"/>
        </a:xfrm>
      </p:grpSpPr>
      <p:sp>
        <p:nvSpPr>
          <p:cNvPr id="30" name="Title 29">
            <a:extLst>
              <a:ext uri="{FF2B5EF4-FFF2-40B4-BE49-F238E27FC236}">
                <a16:creationId xmlns:a16="http://schemas.microsoft.com/office/drawing/2014/main" id="{DAE8D1EC-E05E-6A7E-862E-287E8B323A47}"/>
              </a:ext>
            </a:extLst>
          </p:cNvPr>
          <p:cNvSpPr>
            <a:spLocks noGrp="1"/>
          </p:cNvSpPr>
          <p:nvPr>
            <p:ph type="title"/>
          </p:nvPr>
        </p:nvSpPr>
        <p:spPr>
          <a:xfrm>
            <a:off x="2" y="346273"/>
            <a:ext cx="9143998" cy="986719"/>
          </a:xfrm>
        </p:spPr>
        <p:txBody>
          <a:bodyPr anchor="t">
            <a:normAutofit fontScale="90000"/>
          </a:bodyPr>
          <a:lstStyle/>
          <a:p>
            <a:r>
              <a:rPr lang="en-US" sz="4400" dirty="0"/>
              <a:t>The Multidimensional Risk Prediction Model </a:t>
            </a:r>
            <a:endParaRPr lang="en-GB" sz="4400" dirty="0"/>
          </a:p>
        </p:txBody>
      </p:sp>
      <p:sp>
        <p:nvSpPr>
          <p:cNvPr id="3" name="Date Placeholder 2">
            <a:extLst>
              <a:ext uri="{FF2B5EF4-FFF2-40B4-BE49-F238E27FC236}">
                <a16:creationId xmlns:a16="http://schemas.microsoft.com/office/drawing/2014/main" id="{E6EF907C-6240-A527-2A4C-034AB38B4EF8}"/>
              </a:ext>
            </a:extLst>
          </p:cNvPr>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fld id="{9313C9EE-16C5-4076-9BE9-6380BA105E9E}" type="datetime5">
              <a:rPr lang="en-GB" sz="1200" smtClean="0"/>
              <a:pPr>
                <a:lnSpc>
                  <a:spcPct val="90000"/>
                </a:lnSpc>
                <a:spcAft>
                  <a:spcPts val="600"/>
                </a:spcAft>
              </a:pPr>
              <a:t>14-Oct-26</a:t>
            </a:fld>
            <a:endParaRPr lang="en-GB" sz="1200"/>
          </a:p>
        </p:txBody>
      </p:sp>
      <p:sp>
        <p:nvSpPr>
          <p:cNvPr id="4" name="Slide Number Placeholder 3">
            <a:extLst>
              <a:ext uri="{FF2B5EF4-FFF2-40B4-BE49-F238E27FC236}">
                <a16:creationId xmlns:a16="http://schemas.microsoft.com/office/drawing/2014/main" id="{E4622810-E191-7849-595C-498C6151116A}"/>
              </a:ext>
            </a:extLst>
          </p:cNvPr>
          <p:cNvSpPr>
            <a:spLocks noGrp="1"/>
          </p:cNvSpPr>
          <p:nvPr>
            <p:ph type="sldNum" sz="quarter" idx="12"/>
          </p:nvPr>
        </p:nvSpPr>
        <p:spPr>
          <a:xfrm>
            <a:off x="8545794" y="6597052"/>
            <a:ext cx="598206" cy="259435"/>
          </a:xfrm>
        </p:spPr>
        <p:txBody>
          <a:bodyPr anchor="ctr">
            <a:normAutofit/>
          </a:bodyPr>
          <a:lstStyle/>
          <a:p>
            <a:pPr>
              <a:lnSpc>
                <a:spcPct val="90000"/>
              </a:lnSpc>
              <a:spcAft>
                <a:spcPts val="600"/>
              </a:spcAft>
            </a:pPr>
            <a:fld id="{CC7D8618-F20C-406E-B464-04F15D14577A}" type="slidenum">
              <a:rPr lang="en-GB" sz="1100" smtClean="0"/>
              <a:pPr>
                <a:lnSpc>
                  <a:spcPct val="90000"/>
                </a:lnSpc>
                <a:spcAft>
                  <a:spcPts val="600"/>
                </a:spcAft>
              </a:pPr>
              <a:t>12</a:t>
            </a:fld>
            <a:endParaRPr lang="en-GB" sz="1100"/>
          </a:p>
        </p:txBody>
      </p:sp>
      <p:sp>
        <p:nvSpPr>
          <p:cNvPr id="38" name="Text Placeholder 5">
            <a:extLst>
              <a:ext uri="{FF2B5EF4-FFF2-40B4-BE49-F238E27FC236}">
                <a16:creationId xmlns:a16="http://schemas.microsoft.com/office/drawing/2014/main" id="{DC9EE4EF-6D4A-7E8B-5F40-716E943A3224}"/>
              </a:ext>
            </a:extLst>
          </p:cNvPr>
          <p:cNvSpPr>
            <a:spLocks noGrp="1"/>
          </p:cNvSpPr>
          <p:nvPr>
            <p:ph type="body" sz="quarter" idx="13"/>
          </p:nvPr>
        </p:nvSpPr>
        <p:spPr>
          <a:xfrm>
            <a:off x="1116602" y="6597962"/>
            <a:ext cx="3395577" cy="258763"/>
          </a:xfrm>
        </p:spPr>
        <p:txBody>
          <a:bodyPr/>
          <a:lstStyle/>
          <a:p>
            <a:r>
              <a:rPr lang="en-US" dirty="0"/>
              <a:t>Rustam Togambayev &amp; Iyad Alomar</a:t>
            </a:r>
          </a:p>
        </p:txBody>
      </p:sp>
      <p:sp>
        <p:nvSpPr>
          <p:cNvPr id="40" name="Text Placeholder 6">
            <a:extLst>
              <a:ext uri="{FF2B5EF4-FFF2-40B4-BE49-F238E27FC236}">
                <a16:creationId xmlns:a16="http://schemas.microsoft.com/office/drawing/2014/main" id="{3A125C67-FE2E-8D9F-E14C-7FA095A6A661}"/>
              </a:ext>
            </a:extLst>
          </p:cNvPr>
          <p:cNvSpPr>
            <a:spLocks noGrp="1"/>
          </p:cNvSpPr>
          <p:nvPr>
            <p:ph type="body" sz="quarter" idx="14"/>
          </p:nvPr>
        </p:nvSpPr>
        <p:spPr>
          <a:xfrm>
            <a:off x="1" y="2203"/>
            <a:ext cx="4571999" cy="258763"/>
          </a:xfrm>
        </p:spPr>
        <p:txBody>
          <a:bodyPr/>
          <a:lstStyle/>
          <a:p>
            <a:endParaRPr lang="en-US"/>
          </a:p>
        </p:txBody>
      </p:sp>
      <p:sp>
        <p:nvSpPr>
          <p:cNvPr id="42" name="Text Placeholder 7">
            <a:extLst>
              <a:ext uri="{FF2B5EF4-FFF2-40B4-BE49-F238E27FC236}">
                <a16:creationId xmlns:a16="http://schemas.microsoft.com/office/drawing/2014/main" id="{EF79FD45-CD9A-4D65-C737-5FEE6291F735}"/>
              </a:ext>
            </a:extLst>
          </p:cNvPr>
          <p:cNvSpPr>
            <a:spLocks noGrp="1"/>
          </p:cNvSpPr>
          <p:nvPr>
            <p:ph type="body" sz="quarter" idx="15"/>
          </p:nvPr>
        </p:nvSpPr>
        <p:spPr>
          <a:xfrm>
            <a:off x="4572000" y="2203"/>
            <a:ext cx="4571999" cy="258763"/>
          </a:xfrm>
        </p:spPr>
        <p:txBody>
          <a:bodyPr/>
          <a:lstStyle/>
          <a:p>
            <a:endParaRPr lang="en-US"/>
          </a:p>
        </p:txBody>
      </p:sp>
      <p:pic>
        <p:nvPicPr>
          <p:cNvPr id="5" name="Picture 4">
            <a:extLst>
              <a:ext uri="{FF2B5EF4-FFF2-40B4-BE49-F238E27FC236}">
                <a16:creationId xmlns:a16="http://schemas.microsoft.com/office/drawing/2014/main" id="{9835FA79-08AF-1797-1556-F41D3A4EC2FE}"/>
              </a:ext>
            </a:extLst>
          </p:cNvPr>
          <p:cNvPicPr>
            <a:picLocks noChangeAspect="1"/>
          </p:cNvPicPr>
          <p:nvPr/>
        </p:nvPicPr>
        <p:blipFill>
          <a:blip r:embed="rId3"/>
          <a:stretch>
            <a:fillRect/>
          </a:stretch>
        </p:blipFill>
        <p:spPr>
          <a:xfrm>
            <a:off x="90436" y="1541903"/>
            <a:ext cx="8963127" cy="4296278"/>
          </a:xfrm>
          <a:prstGeom prst="rect">
            <a:avLst/>
          </a:prstGeom>
        </p:spPr>
      </p:pic>
    </p:spTree>
    <p:extLst>
      <p:ext uri="{BB962C8B-B14F-4D97-AF65-F5344CB8AC3E}">
        <p14:creationId xmlns:p14="http://schemas.microsoft.com/office/powerpoint/2010/main" val="4173081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p:cNvSpPr>
            <a:spLocks noGrp="1"/>
          </p:cNvSpPr>
          <p:nvPr>
            <p:ph type="title"/>
          </p:nvPr>
        </p:nvSpPr>
        <p:spPr>
          <a:xfrm>
            <a:off x="2" y="346273"/>
            <a:ext cx="9143998" cy="986719"/>
          </a:xfrm>
        </p:spPr>
        <p:txBody>
          <a:bodyPr>
            <a:normAutofit/>
          </a:bodyPr>
          <a:lstStyle/>
          <a:p>
            <a:r>
              <a:rPr lang="en-US" b="1" dirty="0"/>
              <a:t>HCDT Dashboard </a:t>
            </a:r>
            <a:endParaRPr lang="en-GB" b="1" dirty="0"/>
          </a:p>
        </p:txBody>
      </p:sp>
      <p:pic>
        <p:nvPicPr>
          <p:cNvPr id="5" name="Picture 4">
            <a:extLst>
              <a:ext uri="{FF2B5EF4-FFF2-40B4-BE49-F238E27FC236}">
                <a16:creationId xmlns:a16="http://schemas.microsoft.com/office/drawing/2014/main" id="{DDB5572D-084F-0D81-B879-FE1096868ECF}"/>
              </a:ext>
            </a:extLst>
          </p:cNvPr>
          <p:cNvPicPr>
            <a:picLocks noChangeAspect="1"/>
          </p:cNvPicPr>
          <p:nvPr/>
        </p:nvPicPr>
        <p:blipFill>
          <a:blip r:embed="rId3"/>
          <a:stretch>
            <a:fillRect/>
          </a:stretch>
        </p:blipFill>
        <p:spPr>
          <a:xfrm>
            <a:off x="276027" y="1514482"/>
            <a:ext cx="8568869" cy="4841410"/>
          </a:xfrm>
          <a:prstGeom prst="rect">
            <a:avLst/>
          </a:prstGeom>
          <a:noFill/>
        </p:spPr>
      </p:pic>
      <p:sp>
        <p:nvSpPr>
          <p:cNvPr id="3" name="Date Placeholder 2"/>
          <p:cNvSpPr>
            <a:spLocks noGrp="1"/>
          </p:cNvSpPr>
          <p:nvPr>
            <p:ph type="dt" sz="half" idx="10"/>
          </p:nvPr>
        </p:nvSpPr>
        <p:spPr>
          <a:xfrm>
            <a:off x="4082" y="6597052"/>
            <a:ext cx="1097280" cy="259435"/>
          </a:xfrm>
        </p:spPr>
        <p:txBody>
          <a:bodyPr anchor="ctr">
            <a:normAutofit/>
          </a:bodyPr>
          <a:lstStyle/>
          <a:p>
            <a:pPr>
              <a:lnSpc>
                <a:spcPct val="90000"/>
              </a:lnSpc>
              <a:spcAft>
                <a:spcPts val="600"/>
              </a:spcAft>
            </a:pPr>
            <a:fld id="{9313C9EE-16C5-4076-9BE9-6380BA105E9E}" type="datetime5">
              <a:rPr lang="en-GB" sz="1200" smtClean="0"/>
              <a:pPr>
                <a:lnSpc>
                  <a:spcPct val="90000"/>
                </a:lnSpc>
                <a:spcAft>
                  <a:spcPts val="600"/>
                </a:spcAft>
              </a:pPr>
              <a:t>14-Oct-26</a:t>
            </a:fld>
            <a:endParaRPr lang="en-GB" sz="1200"/>
          </a:p>
        </p:txBody>
      </p:sp>
      <p:sp>
        <p:nvSpPr>
          <p:cNvPr id="4" name="Slide Number Placeholder 3"/>
          <p:cNvSpPr>
            <a:spLocks noGrp="1"/>
          </p:cNvSpPr>
          <p:nvPr>
            <p:ph type="sldNum" sz="quarter" idx="12"/>
          </p:nvPr>
        </p:nvSpPr>
        <p:spPr>
          <a:xfrm>
            <a:off x="8545794" y="6597052"/>
            <a:ext cx="598206" cy="259435"/>
          </a:xfrm>
        </p:spPr>
        <p:txBody>
          <a:bodyPr anchor="ctr">
            <a:normAutofit/>
          </a:bodyPr>
          <a:lstStyle/>
          <a:p>
            <a:pPr>
              <a:lnSpc>
                <a:spcPct val="90000"/>
              </a:lnSpc>
              <a:spcAft>
                <a:spcPts val="600"/>
              </a:spcAft>
            </a:pPr>
            <a:fld id="{CC7D8618-F20C-406E-B464-04F15D14577A}" type="slidenum">
              <a:rPr lang="en-GB" sz="1100" smtClean="0"/>
              <a:pPr>
                <a:lnSpc>
                  <a:spcPct val="90000"/>
                </a:lnSpc>
                <a:spcAft>
                  <a:spcPts val="600"/>
                </a:spcAft>
              </a:pPr>
              <a:t>13</a:t>
            </a:fld>
            <a:endParaRPr lang="en-GB" sz="1100"/>
          </a:p>
        </p:txBody>
      </p:sp>
      <p:sp>
        <p:nvSpPr>
          <p:cNvPr id="2" name="Text Placeholder 9">
            <a:extLst>
              <a:ext uri="{FF2B5EF4-FFF2-40B4-BE49-F238E27FC236}">
                <a16:creationId xmlns:a16="http://schemas.microsoft.com/office/drawing/2014/main" id="{40E8B128-0684-21A9-BF99-54B2F99CB901}"/>
              </a:ext>
            </a:extLst>
          </p:cNvPr>
          <p:cNvSpPr>
            <a:spLocks noGrp="1"/>
          </p:cNvSpPr>
          <p:nvPr>
            <p:ph type="body" sz="quarter" idx="13"/>
          </p:nvPr>
        </p:nvSpPr>
        <p:spPr>
          <a:xfrm>
            <a:off x="1116602" y="6597962"/>
            <a:ext cx="3395577" cy="258763"/>
          </a:xfrm>
        </p:spPr>
        <p:txBody>
          <a:bodyPr anchor="ctr">
            <a:normAutofit/>
          </a:bodyPr>
          <a:lstStyle/>
          <a:p>
            <a:pPr>
              <a:lnSpc>
                <a:spcPct val="90000"/>
              </a:lnSpc>
            </a:pPr>
            <a:r>
              <a:rPr lang="en-US" sz="1200" dirty="0"/>
              <a:t>Rustam Togambayev &amp; Iyad Alomar</a:t>
            </a:r>
            <a:endParaRPr lang="en-GB" sz="1200" dirty="0"/>
          </a:p>
        </p:txBody>
      </p:sp>
      <p:sp>
        <p:nvSpPr>
          <p:cNvPr id="2054" name="Text Placeholder 6">
            <a:extLst>
              <a:ext uri="{FF2B5EF4-FFF2-40B4-BE49-F238E27FC236}">
                <a16:creationId xmlns:a16="http://schemas.microsoft.com/office/drawing/2014/main" id="{EBDCCA97-9A0A-FD5F-5C1E-05A12836B9F7}"/>
              </a:ext>
            </a:extLst>
          </p:cNvPr>
          <p:cNvSpPr>
            <a:spLocks noGrp="1"/>
          </p:cNvSpPr>
          <p:nvPr>
            <p:ph type="body" sz="quarter" idx="14"/>
          </p:nvPr>
        </p:nvSpPr>
        <p:spPr>
          <a:xfrm>
            <a:off x="1" y="2203"/>
            <a:ext cx="4571999" cy="258763"/>
          </a:xfrm>
        </p:spPr>
        <p:txBody>
          <a:bodyPr/>
          <a:lstStyle/>
          <a:p>
            <a:endParaRPr lang="en-US"/>
          </a:p>
        </p:txBody>
      </p:sp>
      <p:sp>
        <p:nvSpPr>
          <p:cNvPr id="2056" name="Text Placeholder 7">
            <a:extLst>
              <a:ext uri="{FF2B5EF4-FFF2-40B4-BE49-F238E27FC236}">
                <a16:creationId xmlns:a16="http://schemas.microsoft.com/office/drawing/2014/main" id="{53D38D77-B258-0A8C-AE6E-A20CD7C85318}"/>
              </a:ext>
            </a:extLst>
          </p:cNvPr>
          <p:cNvSpPr>
            <a:spLocks noGrp="1"/>
          </p:cNvSpPr>
          <p:nvPr>
            <p:ph type="body" sz="quarter" idx="15"/>
          </p:nvPr>
        </p:nvSpPr>
        <p:spPr>
          <a:xfrm>
            <a:off x="4572000" y="2203"/>
            <a:ext cx="4571999" cy="258763"/>
          </a:xfrm>
        </p:spPr>
        <p:txBody>
          <a:bodyPr/>
          <a:lstStyle/>
          <a:p>
            <a:endParaRPr lang="en-US"/>
          </a:p>
        </p:txBody>
      </p:sp>
      <p:pic>
        <p:nvPicPr>
          <p:cNvPr id="2049" name="Picture 1" descr="page12image5137760">
            <a:extLst>
              <a:ext uri="{FF2B5EF4-FFF2-40B4-BE49-F238E27FC236}">
                <a16:creationId xmlns:a16="http://schemas.microsoft.com/office/drawing/2014/main" id="{B2A30915-9A4A-875D-463D-1E019FE641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53854" y="-3953880"/>
            <a:ext cx="3013449" cy="22508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008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1014A-8EA9-64A2-329E-F1F31449CA7D}"/>
              </a:ext>
            </a:extLst>
          </p:cNvPr>
          <p:cNvSpPr>
            <a:spLocks noGrp="1"/>
          </p:cNvSpPr>
          <p:nvPr>
            <p:ph type="title"/>
          </p:nvPr>
        </p:nvSpPr>
        <p:spPr/>
        <p:txBody>
          <a:bodyPr/>
          <a:lstStyle/>
          <a:p>
            <a:r>
              <a:rPr lang="en-US" dirty="0"/>
              <a:t>Well-considered Decisions</a:t>
            </a:r>
          </a:p>
        </p:txBody>
      </p:sp>
      <p:sp>
        <p:nvSpPr>
          <p:cNvPr id="3" name="Text Placeholder 2">
            <a:extLst>
              <a:ext uri="{FF2B5EF4-FFF2-40B4-BE49-F238E27FC236}">
                <a16:creationId xmlns:a16="http://schemas.microsoft.com/office/drawing/2014/main" id="{358A5E90-A05D-B205-4F30-A5B78067AFFA}"/>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0A3BF8B9-1A84-BE7C-10D3-CFA03F52A78D}"/>
              </a:ext>
            </a:extLst>
          </p:cNvPr>
          <p:cNvSpPr>
            <a:spLocks noGrp="1"/>
          </p:cNvSpPr>
          <p:nvPr>
            <p:ph type="body" sz="quarter" idx="15"/>
          </p:nvPr>
        </p:nvSpPr>
        <p:spPr/>
        <p:txBody>
          <a:bodyPr/>
          <a:lstStyle/>
          <a:p>
            <a:endParaRPr lang="en-US"/>
          </a:p>
        </p:txBody>
      </p:sp>
      <p:sp>
        <p:nvSpPr>
          <p:cNvPr id="5" name="Date Placeholder 4">
            <a:extLst>
              <a:ext uri="{FF2B5EF4-FFF2-40B4-BE49-F238E27FC236}">
                <a16:creationId xmlns:a16="http://schemas.microsoft.com/office/drawing/2014/main" id="{C3477517-EF63-494B-02E6-2DB17FEDFF06}"/>
              </a:ext>
            </a:extLst>
          </p:cNvPr>
          <p:cNvSpPr>
            <a:spLocks noGrp="1"/>
          </p:cNvSpPr>
          <p:nvPr>
            <p:ph type="dt" sz="half" idx="10"/>
          </p:nvPr>
        </p:nvSpPr>
        <p:spPr/>
        <p:txBody>
          <a:bodyPr/>
          <a:lstStyle/>
          <a:p>
            <a:fld id="{CCC9EF8E-048C-4334-AD80-D83F6C532D96}" type="datetime5">
              <a:rPr lang="en-GB" smtClean="0"/>
              <a:t>14-Oct-26</a:t>
            </a:fld>
            <a:endParaRPr lang="en-GB" dirty="0"/>
          </a:p>
        </p:txBody>
      </p:sp>
      <p:sp>
        <p:nvSpPr>
          <p:cNvPr id="6" name="Slide Number Placeholder 5">
            <a:extLst>
              <a:ext uri="{FF2B5EF4-FFF2-40B4-BE49-F238E27FC236}">
                <a16:creationId xmlns:a16="http://schemas.microsoft.com/office/drawing/2014/main" id="{10737333-BB88-1CC8-8093-237B008C8386}"/>
              </a:ext>
            </a:extLst>
          </p:cNvPr>
          <p:cNvSpPr>
            <a:spLocks noGrp="1"/>
          </p:cNvSpPr>
          <p:nvPr>
            <p:ph type="sldNum" sz="quarter" idx="12"/>
          </p:nvPr>
        </p:nvSpPr>
        <p:spPr/>
        <p:txBody>
          <a:bodyPr/>
          <a:lstStyle/>
          <a:p>
            <a:fld id="{CC7D8618-F20C-406E-B464-04F15D14577A}" type="slidenum">
              <a:rPr lang="en-GB" smtClean="0"/>
              <a:pPr/>
              <a:t>14</a:t>
            </a:fld>
            <a:endParaRPr lang="en-GB" dirty="0"/>
          </a:p>
        </p:txBody>
      </p:sp>
      <p:sp>
        <p:nvSpPr>
          <p:cNvPr id="7" name="Text Placeholder 6">
            <a:extLst>
              <a:ext uri="{FF2B5EF4-FFF2-40B4-BE49-F238E27FC236}">
                <a16:creationId xmlns:a16="http://schemas.microsoft.com/office/drawing/2014/main" id="{06CF39C7-C272-DA35-543B-98EE2B75293D}"/>
              </a:ext>
            </a:extLst>
          </p:cNvPr>
          <p:cNvSpPr>
            <a:spLocks noGrp="1"/>
          </p:cNvSpPr>
          <p:nvPr>
            <p:ph type="body" sz="quarter" idx="13"/>
          </p:nvPr>
        </p:nvSpPr>
        <p:spPr/>
        <p:txBody>
          <a:bodyPr/>
          <a:lstStyle/>
          <a:p>
            <a:r>
              <a:rPr lang="en-US" dirty="0"/>
              <a:t>Rustam Togambayev &amp; Iyad Alomar</a:t>
            </a:r>
          </a:p>
        </p:txBody>
      </p:sp>
      <p:pic>
        <p:nvPicPr>
          <p:cNvPr id="11" name="Picture 10">
            <a:extLst>
              <a:ext uri="{FF2B5EF4-FFF2-40B4-BE49-F238E27FC236}">
                <a16:creationId xmlns:a16="http://schemas.microsoft.com/office/drawing/2014/main" id="{67B04011-A250-36A8-E17E-A9A7A47ECE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41" y="1306150"/>
            <a:ext cx="8994918" cy="4401222"/>
          </a:xfrm>
          <a:prstGeom prst="rect">
            <a:avLst/>
          </a:prstGeom>
        </p:spPr>
      </p:pic>
      <p:sp>
        <p:nvSpPr>
          <p:cNvPr id="14" name="TextBox 13">
            <a:extLst>
              <a:ext uri="{FF2B5EF4-FFF2-40B4-BE49-F238E27FC236}">
                <a16:creationId xmlns:a16="http://schemas.microsoft.com/office/drawing/2014/main" id="{66748F30-E3F1-C46B-5546-BAEC276E13A4}"/>
              </a:ext>
            </a:extLst>
          </p:cNvPr>
          <p:cNvSpPr txBox="1"/>
          <p:nvPr/>
        </p:nvSpPr>
        <p:spPr>
          <a:xfrm>
            <a:off x="2381693" y="5901070"/>
            <a:ext cx="237566" cy="369332"/>
          </a:xfrm>
          <a:prstGeom prst="rect">
            <a:avLst/>
          </a:prstGeom>
          <a:noFill/>
        </p:spPr>
        <p:txBody>
          <a:bodyPr wrap="none" rtlCol="0">
            <a:spAutoFit/>
          </a:bodyPr>
          <a:lstStyle/>
          <a:p>
            <a:r>
              <a:rPr lang="en-US" dirty="0"/>
              <a:t> </a:t>
            </a:r>
          </a:p>
        </p:txBody>
      </p:sp>
      <p:sp>
        <p:nvSpPr>
          <p:cNvPr id="15" name="TextBox 14">
            <a:extLst>
              <a:ext uri="{FF2B5EF4-FFF2-40B4-BE49-F238E27FC236}">
                <a16:creationId xmlns:a16="http://schemas.microsoft.com/office/drawing/2014/main" id="{A84F4E81-C640-539B-5A71-015594D0A5C0}"/>
              </a:ext>
            </a:extLst>
          </p:cNvPr>
          <p:cNvSpPr txBox="1"/>
          <p:nvPr/>
        </p:nvSpPr>
        <p:spPr>
          <a:xfrm>
            <a:off x="3772308" y="5870292"/>
            <a:ext cx="2224007" cy="400110"/>
          </a:xfrm>
          <a:prstGeom prst="rect">
            <a:avLst/>
          </a:prstGeom>
          <a:solidFill>
            <a:schemeClr val="accent2">
              <a:lumMod val="75000"/>
            </a:schemeClr>
          </a:solid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Precise Trainings </a:t>
            </a:r>
          </a:p>
        </p:txBody>
      </p:sp>
    </p:spTree>
    <p:extLst>
      <p:ext uri="{BB962C8B-B14F-4D97-AF65-F5344CB8AC3E}">
        <p14:creationId xmlns:p14="http://schemas.microsoft.com/office/powerpoint/2010/main" val="27729350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891C-1DFE-8BA7-553A-4EEFC074BE01}"/>
              </a:ext>
            </a:extLst>
          </p:cNvPr>
          <p:cNvSpPr>
            <a:spLocks noGrp="1"/>
          </p:cNvSpPr>
          <p:nvPr>
            <p:ph type="title"/>
          </p:nvPr>
        </p:nvSpPr>
        <p:spPr/>
        <p:txBody>
          <a:bodyPr/>
          <a:lstStyle/>
          <a:p>
            <a:r>
              <a:rPr lang="en-US" b="1" dirty="0"/>
              <a:t>Digital Evolution</a:t>
            </a:r>
          </a:p>
        </p:txBody>
      </p:sp>
      <p:sp>
        <p:nvSpPr>
          <p:cNvPr id="3" name="Text Placeholder 2">
            <a:extLst>
              <a:ext uri="{FF2B5EF4-FFF2-40B4-BE49-F238E27FC236}">
                <a16:creationId xmlns:a16="http://schemas.microsoft.com/office/drawing/2014/main" id="{2779CAC6-CB1B-9436-5989-BEEF0D53C89F}"/>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592A0ECF-9F2A-A95C-3815-3800668BC044}"/>
              </a:ext>
            </a:extLst>
          </p:cNvPr>
          <p:cNvSpPr>
            <a:spLocks noGrp="1"/>
          </p:cNvSpPr>
          <p:nvPr>
            <p:ph type="body" sz="quarter" idx="15"/>
          </p:nvPr>
        </p:nvSpPr>
        <p:spPr/>
        <p:txBody>
          <a:bodyPr/>
          <a:lstStyle/>
          <a:p>
            <a:endParaRPr lang="en-US"/>
          </a:p>
        </p:txBody>
      </p:sp>
      <p:sp>
        <p:nvSpPr>
          <p:cNvPr id="5" name="Date Placeholder 4">
            <a:extLst>
              <a:ext uri="{FF2B5EF4-FFF2-40B4-BE49-F238E27FC236}">
                <a16:creationId xmlns:a16="http://schemas.microsoft.com/office/drawing/2014/main" id="{79465F3D-43E8-3A82-A4F9-EE2C8C15A276}"/>
              </a:ext>
            </a:extLst>
          </p:cNvPr>
          <p:cNvSpPr>
            <a:spLocks noGrp="1"/>
          </p:cNvSpPr>
          <p:nvPr>
            <p:ph type="dt" sz="half" idx="10"/>
          </p:nvPr>
        </p:nvSpPr>
        <p:spPr/>
        <p:txBody>
          <a:bodyPr/>
          <a:lstStyle/>
          <a:p>
            <a:fld id="{CCC9EF8E-048C-4334-AD80-D83F6C532D96}" type="datetime5">
              <a:rPr lang="en-GB" smtClean="0"/>
              <a:t>14-Oct-26</a:t>
            </a:fld>
            <a:endParaRPr lang="en-GB" dirty="0"/>
          </a:p>
        </p:txBody>
      </p:sp>
      <p:sp>
        <p:nvSpPr>
          <p:cNvPr id="6" name="Slide Number Placeholder 5">
            <a:extLst>
              <a:ext uri="{FF2B5EF4-FFF2-40B4-BE49-F238E27FC236}">
                <a16:creationId xmlns:a16="http://schemas.microsoft.com/office/drawing/2014/main" id="{D301024E-1764-05A2-0D8E-549FC7F107F4}"/>
              </a:ext>
            </a:extLst>
          </p:cNvPr>
          <p:cNvSpPr>
            <a:spLocks noGrp="1"/>
          </p:cNvSpPr>
          <p:nvPr>
            <p:ph type="sldNum" sz="quarter" idx="12"/>
          </p:nvPr>
        </p:nvSpPr>
        <p:spPr/>
        <p:txBody>
          <a:bodyPr/>
          <a:lstStyle/>
          <a:p>
            <a:fld id="{CC7D8618-F20C-406E-B464-04F15D14577A}" type="slidenum">
              <a:rPr lang="en-GB" smtClean="0"/>
              <a:pPr/>
              <a:t>15</a:t>
            </a:fld>
            <a:endParaRPr lang="en-GB" dirty="0"/>
          </a:p>
        </p:txBody>
      </p:sp>
      <p:sp>
        <p:nvSpPr>
          <p:cNvPr id="7" name="Text Placeholder 6">
            <a:extLst>
              <a:ext uri="{FF2B5EF4-FFF2-40B4-BE49-F238E27FC236}">
                <a16:creationId xmlns:a16="http://schemas.microsoft.com/office/drawing/2014/main" id="{812C8A63-86A8-912C-7FCF-EEBC0DBF677D}"/>
              </a:ext>
            </a:extLst>
          </p:cNvPr>
          <p:cNvSpPr>
            <a:spLocks noGrp="1"/>
          </p:cNvSpPr>
          <p:nvPr>
            <p:ph type="body" sz="quarter" idx="13"/>
          </p:nvPr>
        </p:nvSpPr>
        <p:spPr/>
        <p:txBody>
          <a:bodyPr/>
          <a:lstStyle/>
          <a:p>
            <a:endParaRPr lang="en-US"/>
          </a:p>
        </p:txBody>
      </p:sp>
      <p:pic>
        <p:nvPicPr>
          <p:cNvPr id="9" name="Picture 8">
            <a:extLst>
              <a:ext uri="{FF2B5EF4-FFF2-40B4-BE49-F238E27FC236}">
                <a16:creationId xmlns:a16="http://schemas.microsoft.com/office/drawing/2014/main" id="{AAAF76A8-D396-806F-00D2-12BD37C06A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394" y="1564974"/>
            <a:ext cx="7772400" cy="3562764"/>
          </a:xfrm>
          <a:prstGeom prst="rect">
            <a:avLst/>
          </a:prstGeom>
        </p:spPr>
      </p:pic>
      <p:sp>
        <p:nvSpPr>
          <p:cNvPr id="14" name="TextBox 13">
            <a:extLst>
              <a:ext uri="{FF2B5EF4-FFF2-40B4-BE49-F238E27FC236}">
                <a16:creationId xmlns:a16="http://schemas.microsoft.com/office/drawing/2014/main" id="{980BF32F-7503-9AE7-C44D-D7D1F7EE2096}"/>
              </a:ext>
            </a:extLst>
          </p:cNvPr>
          <p:cNvSpPr txBox="1"/>
          <p:nvPr/>
        </p:nvSpPr>
        <p:spPr>
          <a:xfrm>
            <a:off x="2672861" y="5662340"/>
            <a:ext cx="4029436" cy="400110"/>
          </a:xfrm>
          <a:prstGeom prst="rect">
            <a:avLst/>
          </a:prstGeom>
          <a:solidFill>
            <a:schemeClr val="accent2">
              <a:lumMod val="75000"/>
            </a:schemeClr>
          </a:solidFill>
        </p:spPr>
        <p:txBody>
          <a:bodyPr wrap="none" rtlCol="0">
            <a:spAutoFit/>
          </a:bodyPr>
          <a:lstStyle/>
          <a:p>
            <a:r>
              <a:rPr lang="en-US" sz="2000" dirty="0">
                <a:solidFill>
                  <a:schemeClr val="bg1"/>
                </a:solidFill>
                <a:latin typeface="Arial" panose="020B0604020202020204" pitchFamily="34" charset="0"/>
                <a:cs typeface="Arial" panose="020B0604020202020204" pitchFamily="34" charset="0"/>
              </a:rPr>
              <a:t>From Digital Shadow to True Twin</a:t>
            </a:r>
          </a:p>
        </p:txBody>
      </p:sp>
    </p:spTree>
    <p:extLst>
      <p:ext uri="{BB962C8B-B14F-4D97-AF65-F5344CB8AC3E}">
        <p14:creationId xmlns:p14="http://schemas.microsoft.com/office/powerpoint/2010/main" val="1243765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A5D4A-DE1B-AF82-4340-BEE4D2D1A5B4}"/>
              </a:ext>
            </a:extLst>
          </p:cNvPr>
          <p:cNvSpPr>
            <a:spLocks noGrp="1"/>
          </p:cNvSpPr>
          <p:nvPr>
            <p:ph type="title"/>
          </p:nvPr>
        </p:nvSpPr>
        <p:spPr/>
        <p:txBody>
          <a:bodyPr/>
          <a:lstStyle/>
          <a:p>
            <a:r>
              <a:rPr lang="en-US" dirty="0"/>
              <a:t>Empirical Validation Framework</a:t>
            </a:r>
          </a:p>
        </p:txBody>
      </p:sp>
      <p:sp>
        <p:nvSpPr>
          <p:cNvPr id="3" name="Text Placeholder 2">
            <a:extLst>
              <a:ext uri="{FF2B5EF4-FFF2-40B4-BE49-F238E27FC236}">
                <a16:creationId xmlns:a16="http://schemas.microsoft.com/office/drawing/2014/main" id="{056C3CE6-C0E3-50A3-94B7-2D9BC6D6B7B6}"/>
              </a:ext>
            </a:extLst>
          </p:cNvPr>
          <p:cNvSpPr>
            <a:spLocks noGrp="1"/>
          </p:cNvSpPr>
          <p:nvPr>
            <p:ph type="body" sz="quarter" idx="14"/>
          </p:nvPr>
        </p:nvSpPr>
        <p:spPr/>
        <p:txBody>
          <a:bodyPr/>
          <a:lstStyle/>
          <a:p>
            <a:endParaRPr lang="en-US"/>
          </a:p>
        </p:txBody>
      </p:sp>
      <p:sp>
        <p:nvSpPr>
          <p:cNvPr id="4" name="Text Placeholder 3">
            <a:extLst>
              <a:ext uri="{FF2B5EF4-FFF2-40B4-BE49-F238E27FC236}">
                <a16:creationId xmlns:a16="http://schemas.microsoft.com/office/drawing/2014/main" id="{6B1F2354-D6DE-67DD-FC64-8D0F161AC29D}"/>
              </a:ext>
            </a:extLst>
          </p:cNvPr>
          <p:cNvSpPr>
            <a:spLocks noGrp="1"/>
          </p:cNvSpPr>
          <p:nvPr>
            <p:ph type="body" sz="quarter" idx="15"/>
          </p:nvPr>
        </p:nvSpPr>
        <p:spPr/>
        <p:txBody>
          <a:bodyPr/>
          <a:lstStyle/>
          <a:p>
            <a:endParaRPr lang="en-US"/>
          </a:p>
        </p:txBody>
      </p:sp>
      <p:sp>
        <p:nvSpPr>
          <p:cNvPr id="5" name="Date Placeholder 4">
            <a:extLst>
              <a:ext uri="{FF2B5EF4-FFF2-40B4-BE49-F238E27FC236}">
                <a16:creationId xmlns:a16="http://schemas.microsoft.com/office/drawing/2014/main" id="{8E0F51BA-3C41-5C16-91AA-8949D23D1E97}"/>
              </a:ext>
            </a:extLst>
          </p:cNvPr>
          <p:cNvSpPr>
            <a:spLocks noGrp="1"/>
          </p:cNvSpPr>
          <p:nvPr>
            <p:ph type="dt" sz="half" idx="10"/>
          </p:nvPr>
        </p:nvSpPr>
        <p:spPr/>
        <p:txBody>
          <a:bodyPr/>
          <a:lstStyle/>
          <a:p>
            <a:fld id="{CCC9EF8E-048C-4334-AD80-D83F6C532D96}" type="datetime5">
              <a:rPr lang="en-GB" smtClean="0"/>
              <a:t>14-Oct-26</a:t>
            </a:fld>
            <a:endParaRPr lang="en-GB" dirty="0"/>
          </a:p>
        </p:txBody>
      </p:sp>
      <p:sp>
        <p:nvSpPr>
          <p:cNvPr id="6" name="Slide Number Placeholder 5">
            <a:extLst>
              <a:ext uri="{FF2B5EF4-FFF2-40B4-BE49-F238E27FC236}">
                <a16:creationId xmlns:a16="http://schemas.microsoft.com/office/drawing/2014/main" id="{EBF3814F-25F1-FF90-3FCA-6EADCE670EA7}"/>
              </a:ext>
            </a:extLst>
          </p:cNvPr>
          <p:cNvSpPr>
            <a:spLocks noGrp="1"/>
          </p:cNvSpPr>
          <p:nvPr>
            <p:ph type="sldNum" sz="quarter" idx="12"/>
          </p:nvPr>
        </p:nvSpPr>
        <p:spPr/>
        <p:txBody>
          <a:bodyPr/>
          <a:lstStyle/>
          <a:p>
            <a:fld id="{CC7D8618-F20C-406E-B464-04F15D14577A}" type="slidenum">
              <a:rPr lang="en-GB" smtClean="0"/>
              <a:pPr/>
              <a:t>16</a:t>
            </a:fld>
            <a:endParaRPr lang="en-GB" dirty="0"/>
          </a:p>
        </p:txBody>
      </p:sp>
      <p:sp>
        <p:nvSpPr>
          <p:cNvPr id="7" name="Text Placeholder 6">
            <a:extLst>
              <a:ext uri="{FF2B5EF4-FFF2-40B4-BE49-F238E27FC236}">
                <a16:creationId xmlns:a16="http://schemas.microsoft.com/office/drawing/2014/main" id="{5CC7954F-F864-500F-7C9C-A97216B12174}"/>
              </a:ext>
            </a:extLst>
          </p:cNvPr>
          <p:cNvSpPr>
            <a:spLocks noGrp="1"/>
          </p:cNvSpPr>
          <p:nvPr>
            <p:ph type="body" sz="quarter" idx="13"/>
          </p:nvPr>
        </p:nvSpPr>
        <p:spPr/>
        <p:txBody>
          <a:bodyPr/>
          <a:lstStyle/>
          <a:p>
            <a:endParaRPr lang="en-US"/>
          </a:p>
        </p:txBody>
      </p:sp>
      <p:pic>
        <p:nvPicPr>
          <p:cNvPr id="8" name="Picture 7">
            <a:extLst>
              <a:ext uri="{FF2B5EF4-FFF2-40B4-BE49-F238E27FC236}">
                <a16:creationId xmlns:a16="http://schemas.microsoft.com/office/drawing/2014/main" id="{02D16091-780C-91EE-D8A7-2B686E66ED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09755"/>
            <a:ext cx="9052985" cy="4253025"/>
          </a:xfrm>
          <a:prstGeom prst="rect">
            <a:avLst/>
          </a:prstGeom>
        </p:spPr>
      </p:pic>
    </p:spTree>
    <p:extLst>
      <p:ext uri="{BB962C8B-B14F-4D97-AF65-F5344CB8AC3E}">
        <p14:creationId xmlns:p14="http://schemas.microsoft.com/office/powerpoint/2010/main" val="4260849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C74EB83-C161-4DEC-ADBB-863389A41030}" type="datetime5">
              <a:rPr lang="en-GB" smtClean="0"/>
              <a:t>14-Oct-26</a:t>
            </a:fld>
            <a:endParaRPr lang="en-GB" dirty="0"/>
          </a:p>
        </p:txBody>
      </p:sp>
      <p:sp>
        <p:nvSpPr>
          <p:cNvPr id="2" name="Title 1">
            <a:extLst>
              <a:ext uri="{FF2B5EF4-FFF2-40B4-BE49-F238E27FC236}">
                <a16:creationId xmlns:a16="http://schemas.microsoft.com/office/drawing/2014/main" id="{17DC7D7F-671F-BC8C-B695-22FA8344B14F}"/>
              </a:ext>
            </a:extLst>
          </p:cNvPr>
          <p:cNvSpPr txBox="1">
            <a:spLocks/>
          </p:cNvSpPr>
          <p:nvPr/>
        </p:nvSpPr>
        <p:spPr>
          <a:xfrm>
            <a:off x="2" y="329031"/>
            <a:ext cx="9143998" cy="1012659"/>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b="1" dirty="0"/>
              <a:t>Key Findings. Secured Turnaround</a:t>
            </a:r>
          </a:p>
        </p:txBody>
      </p:sp>
      <p:pic>
        <p:nvPicPr>
          <p:cNvPr id="9" name="Picture 8">
            <a:extLst>
              <a:ext uri="{FF2B5EF4-FFF2-40B4-BE49-F238E27FC236}">
                <a16:creationId xmlns:a16="http://schemas.microsoft.com/office/drawing/2014/main" id="{04C8AE83-B1B4-6612-B17C-1411D6922C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03" y="1625564"/>
            <a:ext cx="4714114" cy="4465313"/>
          </a:xfrm>
          <a:prstGeom prst="rect">
            <a:avLst/>
          </a:prstGeom>
        </p:spPr>
      </p:pic>
      <p:sp>
        <p:nvSpPr>
          <p:cNvPr id="10" name="Rounded Rectangle 9">
            <a:extLst>
              <a:ext uri="{FF2B5EF4-FFF2-40B4-BE49-F238E27FC236}">
                <a16:creationId xmlns:a16="http://schemas.microsoft.com/office/drawing/2014/main" id="{7B73EBA7-66CD-0A90-8A37-1CF85F254EA8}"/>
              </a:ext>
            </a:extLst>
          </p:cNvPr>
          <p:cNvSpPr/>
          <p:nvPr/>
        </p:nvSpPr>
        <p:spPr>
          <a:xfrm>
            <a:off x="4946434" y="1917768"/>
            <a:ext cx="4055277" cy="1012659"/>
          </a:xfrm>
          <a:prstGeom prst="roundRect">
            <a:avLst/>
          </a:prstGeom>
          <a:gradFill flip="none" rotWithShape="1">
            <a:gsLst>
              <a:gs pos="0">
                <a:srgbClr val="989800">
                  <a:tint val="66000"/>
                  <a:satMod val="160000"/>
                </a:srgbClr>
              </a:gs>
              <a:gs pos="50000">
                <a:srgbClr val="989800">
                  <a:tint val="44500"/>
                  <a:satMod val="160000"/>
                </a:srgbClr>
              </a:gs>
              <a:gs pos="100000">
                <a:srgbClr val="989800">
                  <a:tint val="23500"/>
                  <a:satMod val="160000"/>
                </a:srgb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214673"/>
                </a:solidFill>
                <a:latin typeface="Arial" panose="020B0604020202020204" pitchFamily="34" charset="0"/>
                <a:cs typeface="Arial" panose="020B0604020202020204" pitchFamily="34" charset="0"/>
              </a:rPr>
              <a:t>Transition GH from a rigid static certification process to a dynamic, continuous evaluation of actual competence</a:t>
            </a:r>
          </a:p>
        </p:txBody>
      </p:sp>
      <p:sp>
        <p:nvSpPr>
          <p:cNvPr id="12" name="Rounded Rectangle 11">
            <a:extLst>
              <a:ext uri="{FF2B5EF4-FFF2-40B4-BE49-F238E27FC236}">
                <a16:creationId xmlns:a16="http://schemas.microsoft.com/office/drawing/2014/main" id="{F00AAE99-E28C-12EC-6349-CBD84BB52910}"/>
              </a:ext>
            </a:extLst>
          </p:cNvPr>
          <p:cNvSpPr/>
          <p:nvPr/>
        </p:nvSpPr>
        <p:spPr>
          <a:xfrm>
            <a:off x="4974892" y="3420641"/>
            <a:ext cx="4064764" cy="959572"/>
          </a:xfrm>
          <a:prstGeom prst="roundRect">
            <a:avLst/>
          </a:prstGeom>
          <a:gradFill flip="none" rotWithShape="1">
            <a:gsLst>
              <a:gs pos="0">
                <a:srgbClr val="989800">
                  <a:tint val="66000"/>
                  <a:satMod val="160000"/>
                </a:srgbClr>
              </a:gs>
              <a:gs pos="50000">
                <a:srgbClr val="989800">
                  <a:tint val="44500"/>
                  <a:satMod val="160000"/>
                </a:srgbClr>
              </a:gs>
              <a:gs pos="100000">
                <a:srgbClr val="989800">
                  <a:tint val="23500"/>
                  <a:satMod val="160000"/>
                </a:srgb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214673"/>
                </a:solidFill>
                <a:latin typeface="Arial" panose="020B0604020202020204" pitchFamily="34" charset="0"/>
                <a:cs typeface="Arial" panose="020B0604020202020204" pitchFamily="34" charset="0"/>
              </a:rPr>
              <a:t>HCDT framework successfully isolated and mitigates internal (human error), latent (unrecorded deviations) and external (context/workload) risk factors</a:t>
            </a:r>
          </a:p>
        </p:txBody>
      </p:sp>
      <p:sp>
        <p:nvSpPr>
          <p:cNvPr id="13" name="Rounded Rectangle 12">
            <a:extLst>
              <a:ext uri="{FF2B5EF4-FFF2-40B4-BE49-F238E27FC236}">
                <a16:creationId xmlns:a16="http://schemas.microsoft.com/office/drawing/2014/main" id="{4A55A9DB-5810-D127-0169-5EAF881DDAFA}"/>
              </a:ext>
            </a:extLst>
          </p:cNvPr>
          <p:cNvSpPr/>
          <p:nvPr/>
        </p:nvSpPr>
        <p:spPr>
          <a:xfrm>
            <a:off x="4965406" y="4870427"/>
            <a:ext cx="4102706" cy="1103798"/>
          </a:xfrm>
          <a:prstGeom prst="roundRect">
            <a:avLst/>
          </a:prstGeom>
          <a:gradFill flip="none" rotWithShape="1">
            <a:gsLst>
              <a:gs pos="0">
                <a:srgbClr val="787800">
                  <a:tint val="66000"/>
                  <a:satMod val="160000"/>
                </a:srgbClr>
              </a:gs>
              <a:gs pos="50000">
                <a:srgbClr val="787800">
                  <a:tint val="44500"/>
                  <a:satMod val="160000"/>
                </a:srgbClr>
              </a:gs>
              <a:gs pos="100000">
                <a:srgbClr val="787800">
                  <a:tint val="23500"/>
                  <a:satMod val="160000"/>
                </a:srgbClr>
              </a:gs>
            </a:gsLst>
            <a:lin ang="81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214673"/>
                </a:solidFill>
                <a:latin typeface="Arial" panose="020B0604020202020204" pitchFamily="34" charset="0"/>
                <a:cs typeface="Arial" panose="020B0604020202020204" pitchFamily="34" charset="0"/>
              </a:rPr>
              <a:t>Through the GH Skills Passport, abstract predictive math is translated directly into targeted training, risk-based, and life-saving operational interventions </a:t>
            </a:r>
          </a:p>
        </p:txBody>
      </p:sp>
      <p:sp>
        <p:nvSpPr>
          <p:cNvPr id="14" name="Bevel 13">
            <a:extLst>
              <a:ext uri="{FF2B5EF4-FFF2-40B4-BE49-F238E27FC236}">
                <a16:creationId xmlns:a16="http://schemas.microsoft.com/office/drawing/2014/main" id="{498092D4-0556-6E78-39E2-3CD7D533234E}"/>
              </a:ext>
            </a:extLst>
          </p:cNvPr>
          <p:cNvSpPr/>
          <p:nvPr/>
        </p:nvSpPr>
        <p:spPr>
          <a:xfrm>
            <a:off x="4965406" y="1580460"/>
            <a:ext cx="4055277" cy="294144"/>
          </a:xfrm>
          <a:prstGeom prst="bevel">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Beyond Compliance </a:t>
            </a:r>
          </a:p>
        </p:txBody>
      </p:sp>
      <p:sp>
        <p:nvSpPr>
          <p:cNvPr id="15" name="Bevel 14">
            <a:extLst>
              <a:ext uri="{FF2B5EF4-FFF2-40B4-BE49-F238E27FC236}">
                <a16:creationId xmlns:a16="http://schemas.microsoft.com/office/drawing/2014/main" id="{3840F6C1-0A0F-B089-8432-DB27F1EE67A3}"/>
              </a:ext>
            </a:extLst>
          </p:cNvPr>
          <p:cNvSpPr/>
          <p:nvPr/>
        </p:nvSpPr>
        <p:spPr>
          <a:xfrm>
            <a:off x="5003349" y="3016756"/>
            <a:ext cx="4064763" cy="317557"/>
          </a:xfrm>
          <a:prstGeom prst="bevel">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Holistic Mitigation </a:t>
            </a:r>
          </a:p>
        </p:txBody>
      </p:sp>
      <p:sp>
        <p:nvSpPr>
          <p:cNvPr id="16" name="Bevel 15">
            <a:extLst>
              <a:ext uri="{FF2B5EF4-FFF2-40B4-BE49-F238E27FC236}">
                <a16:creationId xmlns:a16="http://schemas.microsoft.com/office/drawing/2014/main" id="{33819590-1A8B-4E48-1DA6-B1F9A4E9768F}"/>
              </a:ext>
            </a:extLst>
          </p:cNvPr>
          <p:cNvSpPr/>
          <p:nvPr/>
        </p:nvSpPr>
        <p:spPr>
          <a:xfrm>
            <a:off x="4993863" y="4531019"/>
            <a:ext cx="4083734" cy="305254"/>
          </a:xfrm>
          <a:prstGeom prst="bevel">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Actionable Safety</a:t>
            </a:r>
          </a:p>
        </p:txBody>
      </p:sp>
    </p:spTree>
    <p:extLst>
      <p:ext uri="{BB962C8B-B14F-4D97-AF65-F5344CB8AC3E}">
        <p14:creationId xmlns:p14="http://schemas.microsoft.com/office/powerpoint/2010/main" val="3063512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29"/>
          <p:cNvSpPr>
            <a:spLocks noGrp="1"/>
          </p:cNvSpPr>
          <p:nvPr>
            <p:ph type="title"/>
          </p:nvPr>
        </p:nvSpPr>
        <p:spPr/>
        <p:txBody>
          <a:bodyPr/>
          <a:lstStyle/>
          <a:p>
            <a:r>
              <a:rPr lang="en-GB" dirty="0"/>
              <a:t>Conclusion</a:t>
            </a:r>
          </a:p>
        </p:txBody>
      </p:sp>
      <p:sp>
        <p:nvSpPr>
          <p:cNvPr id="32" name="Text Placeholder 31"/>
          <p:cNvSpPr>
            <a:spLocks noGrp="1"/>
          </p:cNvSpPr>
          <p:nvPr>
            <p:ph type="body" sz="quarter" idx="14"/>
          </p:nvPr>
        </p:nvSpPr>
        <p:spPr/>
        <p:txBody>
          <a:bodyPr/>
          <a:lstStyle/>
          <a:p>
            <a:endParaRPr lang="en-GB"/>
          </a:p>
        </p:txBody>
      </p:sp>
      <p:sp>
        <p:nvSpPr>
          <p:cNvPr id="33" name="Text Placeholder 32"/>
          <p:cNvSpPr>
            <a:spLocks noGrp="1"/>
          </p:cNvSpPr>
          <p:nvPr>
            <p:ph type="body" sz="quarter" idx="15"/>
          </p:nvPr>
        </p:nvSpPr>
        <p:spPr/>
        <p:txBody>
          <a:bodyPr/>
          <a:lstStyle/>
          <a:p>
            <a:endParaRPr lang="en-GB"/>
          </a:p>
        </p:txBody>
      </p:sp>
      <p:sp>
        <p:nvSpPr>
          <p:cNvPr id="3" name="Date Placeholder 2"/>
          <p:cNvSpPr>
            <a:spLocks noGrp="1"/>
          </p:cNvSpPr>
          <p:nvPr>
            <p:ph type="dt" sz="half" idx="10"/>
          </p:nvPr>
        </p:nvSpPr>
        <p:spPr/>
        <p:txBody>
          <a:bodyPr/>
          <a:lstStyle/>
          <a:p>
            <a:fld id="{9313C9EE-16C5-4076-9BE9-6380BA105E9E}" type="datetime5">
              <a:rPr lang="en-GB" smtClean="0"/>
              <a:t>14-Oct-26</a:t>
            </a:fld>
            <a:endParaRPr lang="en-GB" dirty="0"/>
          </a:p>
        </p:txBody>
      </p:sp>
      <p:sp>
        <p:nvSpPr>
          <p:cNvPr id="4" name="Slide Number Placeholder 3"/>
          <p:cNvSpPr>
            <a:spLocks noGrp="1"/>
          </p:cNvSpPr>
          <p:nvPr>
            <p:ph type="sldNum" sz="quarter" idx="12"/>
          </p:nvPr>
        </p:nvSpPr>
        <p:spPr/>
        <p:txBody>
          <a:bodyPr/>
          <a:lstStyle/>
          <a:p>
            <a:fld id="{CC7D8618-F20C-406E-B464-04F15D14577A}" type="slidenum">
              <a:rPr lang="en-GB" smtClean="0"/>
              <a:t>18</a:t>
            </a:fld>
            <a:endParaRPr lang="en-GB" dirty="0"/>
          </a:p>
        </p:txBody>
      </p:sp>
      <p:pic>
        <p:nvPicPr>
          <p:cNvPr id="2049" name="Picture 1" descr="page12image5137760">
            <a:extLst>
              <a:ext uri="{FF2B5EF4-FFF2-40B4-BE49-F238E27FC236}">
                <a16:creationId xmlns:a16="http://schemas.microsoft.com/office/drawing/2014/main" id="{B2A30915-9A4A-875D-463D-1E019FE641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3854" y="-3953880"/>
            <a:ext cx="3013449" cy="2250878"/>
          </a:xfrm>
          <a:prstGeom prst="rect">
            <a:avLst/>
          </a:prstGeom>
          <a:noFill/>
          <a:extLst>
            <a:ext uri="{909E8E84-426E-40DD-AFC4-6F175D3DCCD1}">
              <a14:hiddenFill xmlns:a14="http://schemas.microsoft.com/office/drawing/2010/main">
                <a:solidFill>
                  <a:srgbClr val="FFFFFF"/>
                </a:solidFill>
              </a14:hiddenFill>
            </a:ext>
          </a:extLst>
        </p:spPr>
      </p:pic>
      <p:sp>
        <p:nvSpPr>
          <p:cNvPr id="2" name="Text Placeholder 9">
            <a:extLst>
              <a:ext uri="{FF2B5EF4-FFF2-40B4-BE49-F238E27FC236}">
                <a16:creationId xmlns:a16="http://schemas.microsoft.com/office/drawing/2014/main" id="{40E8B128-0684-21A9-BF99-54B2F99CB901}"/>
              </a:ext>
            </a:extLst>
          </p:cNvPr>
          <p:cNvSpPr>
            <a:spLocks noGrp="1"/>
          </p:cNvSpPr>
          <p:nvPr>
            <p:ph type="body" sz="quarter" idx="13"/>
          </p:nvPr>
        </p:nvSpPr>
        <p:spPr>
          <a:xfrm>
            <a:off x="1116602" y="6597962"/>
            <a:ext cx="3395577" cy="258763"/>
          </a:xfrm>
        </p:spPr>
        <p:txBody>
          <a:bodyPr/>
          <a:lstStyle/>
          <a:p>
            <a:r>
              <a:rPr lang="en-US" dirty="0"/>
              <a:t>Rustam Togambayev &amp; Iyad Alomar</a:t>
            </a:r>
          </a:p>
        </p:txBody>
      </p:sp>
      <p:sp>
        <p:nvSpPr>
          <p:cNvPr id="5" name="Content Placeholder 6">
            <a:extLst>
              <a:ext uri="{FF2B5EF4-FFF2-40B4-BE49-F238E27FC236}">
                <a16:creationId xmlns:a16="http://schemas.microsoft.com/office/drawing/2014/main" id="{F47F641B-4A04-CF55-03CA-FF6F3F483B00}"/>
              </a:ext>
            </a:extLst>
          </p:cNvPr>
          <p:cNvSpPr txBox="1">
            <a:spLocks/>
          </p:cNvSpPr>
          <p:nvPr/>
        </p:nvSpPr>
        <p:spPr>
          <a:xfrm>
            <a:off x="227744" y="912113"/>
            <a:ext cx="8568869" cy="5033773"/>
          </a:xfrm>
          <a:prstGeom prst="rect">
            <a:avLst/>
          </a:prstGeom>
        </p:spPr>
        <p:txBody>
          <a:bodyPr lIns="91440" rIns="91440" anchor="t" anchorCtr="0">
            <a:normAutofit fontScale="92500" lnSpcReduction="10000"/>
          </a:bodyPr>
          <a:lstStyle>
            <a:lvl1pPr marL="0" indent="0" algn="r"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none" spc="200" baseline="0">
                <a:solidFill>
                  <a:schemeClr val="tx2"/>
                </a:solidFill>
                <a:latin typeface="+mj-lt"/>
                <a:ea typeface="+mn-ea"/>
                <a:cs typeface="+mn-cs"/>
              </a:defRPr>
            </a:lvl1pPr>
            <a:lvl2pPr marL="457200" indent="0" algn="l" defTabSz="914400" rtl="0" eaLnBrk="1" latinLnBrk="0" hangingPunct="1">
              <a:lnSpc>
                <a:spcPct val="90000"/>
              </a:lnSpc>
              <a:spcBef>
                <a:spcPts val="200"/>
              </a:spcBef>
              <a:spcAft>
                <a:spcPts val="400"/>
              </a:spcAft>
              <a:buClr>
                <a:schemeClr val="accent1"/>
              </a:buClr>
              <a:buFont typeface="Calibri" pitchFamily="34" charset="0"/>
              <a:buNone/>
              <a:defRPr sz="18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200"/>
              </a:spcBef>
              <a:spcAft>
                <a:spcPts val="400"/>
              </a:spcAft>
              <a:buClr>
                <a:schemeClr val="accent1"/>
              </a:buClr>
              <a:buFont typeface="Calibri" pitchFamily="34" charset="0"/>
              <a:buNone/>
              <a:defRPr sz="16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1400" kern="1200">
                <a:solidFill>
                  <a:schemeClr val="tx1">
                    <a:tint val="75000"/>
                  </a:schemeClr>
                </a:solidFill>
                <a:latin typeface="+mn-lt"/>
                <a:ea typeface="+mn-ea"/>
                <a:cs typeface="+mn-cs"/>
              </a:defRPr>
            </a:lvl9pPr>
          </a:lstStyle>
          <a:p>
            <a:pPr algn="just"/>
            <a:endParaRPr lang="en-US" dirty="0">
              <a:latin typeface="+mn-lt"/>
            </a:endParaRPr>
          </a:p>
          <a:p>
            <a:pPr marL="342900" indent="-342900" algn="just">
              <a:buFont typeface="Arial" panose="020B0604020202020204" pitchFamily="34" charset="0"/>
              <a:buChar char="•"/>
            </a:pPr>
            <a:r>
              <a:rPr lang="en-GB" dirty="0">
                <a:latin typeface="Arial" panose="020B0604020202020204" pitchFamily="34" charset="0"/>
                <a:cs typeface="Arial" panose="020B0604020202020204" pitchFamily="34" charset="0"/>
              </a:rPr>
              <a:t>Successfully transitioned flight-safety certification from an outdated, static administrative checkbox to a continuous, real-time telemetry model</a:t>
            </a:r>
          </a:p>
          <a:p>
            <a:pPr marL="342900" indent="-342900" algn="just">
              <a:buFont typeface="Arial" panose="020B0604020202020204" pitchFamily="34" charset="0"/>
              <a:buChar char="•"/>
            </a:pPr>
            <a:r>
              <a:rPr lang="en-GB" dirty="0">
                <a:latin typeface="Arial" panose="020B0604020202020204" pitchFamily="34" charset="0"/>
                <a:cs typeface="Arial" panose="020B0604020202020204" pitchFamily="34" charset="0"/>
              </a:rPr>
              <a:t>Built a robust data pipeline that successfully aggregates VR logs, operational timestamps, and GSE telemetry into a singular, normalized competency scale.</a:t>
            </a:r>
          </a:p>
          <a:p>
            <a:pPr marL="342900" indent="-342900" algn="just">
              <a:buFont typeface="Arial" panose="020B0604020202020204" pitchFamily="34" charset="0"/>
              <a:buChar char="•"/>
            </a:pPr>
            <a:r>
              <a:rPr lang="en-GB" dirty="0">
                <a:latin typeface="Arial" panose="020B0604020202020204" pitchFamily="34" charset="0"/>
                <a:cs typeface="Arial" panose="020B0604020202020204" pitchFamily="34" charset="0"/>
              </a:rPr>
              <a:t>Mitigated the "black-box" risk by deploying an expert-weighted linear scoring model that provides full mathematical explainability for aviation auditors.</a:t>
            </a:r>
          </a:p>
          <a:p>
            <a:pPr marL="342900" indent="-342900" algn="just">
              <a:buFont typeface="Arial" panose="020B0604020202020204" pitchFamily="34" charset="0"/>
              <a:buChar char="•"/>
            </a:pPr>
            <a:r>
              <a:rPr lang="en-GB" dirty="0">
                <a:latin typeface="Arial" panose="020B0604020202020204" pitchFamily="34" charset="0"/>
                <a:cs typeface="Arial" panose="020B0604020202020204" pitchFamily="34" charset="0"/>
              </a:rPr>
              <a:t>Transformed raw operational metrics into a predictive tool, identifying skill decay and systemic </a:t>
            </a:r>
            <a:r>
              <a:rPr lang="en-GB" dirty="0" err="1">
                <a:latin typeface="Arial" panose="020B0604020202020204" pitchFamily="34" charset="0"/>
                <a:cs typeface="Arial" panose="020B0604020202020204" pitchFamily="34" charset="0"/>
              </a:rPr>
              <a:t>behavior</a:t>
            </a:r>
            <a:r>
              <a:rPr lang="en-GB" dirty="0">
                <a:latin typeface="Arial" panose="020B0604020202020204" pitchFamily="34" charset="0"/>
                <a:cs typeface="Arial" panose="020B0604020202020204" pitchFamily="34" charset="0"/>
              </a:rPr>
              <a:t> anomalies before they manifest as costly ground handling incidents.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2316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792997" y="758390"/>
            <a:ext cx="7856327" cy="1808205"/>
          </a:xfrm>
        </p:spPr>
        <p:txBody>
          <a:bodyPr/>
          <a:lstStyle/>
          <a:p>
            <a:r>
              <a:rPr lang="en-GB" dirty="0">
                <a:latin typeface="Arial" panose="020B0604020202020204" pitchFamily="34" charset="0"/>
                <a:cs typeface="Arial" panose="020B0604020202020204" pitchFamily="34" charset="0"/>
              </a:rPr>
              <a:t>Thank you for attention</a:t>
            </a:r>
          </a:p>
        </p:txBody>
      </p:sp>
      <p:sp>
        <p:nvSpPr>
          <p:cNvPr id="3" name="Date Placeholder 2"/>
          <p:cNvSpPr>
            <a:spLocks noGrp="1"/>
          </p:cNvSpPr>
          <p:nvPr>
            <p:ph type="dt" sz="half" idx="10"/>
          </p:nvPr>
        </p:nvSpPr>
        <p:spPr/>
        <p:txBody>
          <a:bodyPr/>
          <a:lstStyle/>
          <a:p>
            <a:fld id="{FC74EB83-C161-4DEC-ADBB-863389A41030}" type="datetime5">
              <a:rPr lang="en-GB" smtClean="0"/>
              <a:t>14-Oct-26</a:t>
            </a:fld>
            <a:endParaRPr lang="en-GB" dirty="0"/>
          </a:p>
        </p:txBody>
      </p:sp>
      <p:sp>
        <p:nvSpPr>
          <p:cNvPr id="9" name="Text Placeholder 8"/>
          <p:cNvSpPr>
            <a:spLocks noGrp="1"/>
          </p:cNvSpPr>
          <p:nvPr>
            <p:ph type="body" idx="11"/>
          </p:nvPr>
        </p:nvSpPr>
        <p:spPr/>
        <p:txBody>
          <a:bodyPr/>
          <a:lstStyle/>
          <a:p>
            <a:r>
              <a:rPr lang="en-GB" dirty="0"/>
              <a:t>+7 775 353 3537</a:t>
            </a:r>
          </a:p>
          <a:p>
            <a:r>
              <a:rPr lang="en-GB" dirty="0" err="1"/>
              <a:t>r.togambayev@agakaz.kz</a:t>
            </a:r>
            <a:endParaRPr lang="en-GB" dirty="0"/>
          </a:p>
        </p:txBody>
      </p:sp>
      <p:sp>
        <p:nvSpPr>
          <p:cNvPr id="8" name="Text Placeholder 7"/>
          <p:cNvSpPr>
            <a:spLocks noGrp="1"/>
          </p:cNvSpPr>
          <p:nvPr>
            <p:ph type="body" idx="1"/>
          </p:nvPr>
        </p:nvSpPr>
        <p:spPr/>
        <p:txBody>
          <a:bodyPr>
            <a:normAutofit fontScale="92500" lnSpcReduction="10000"/>
          </a:bodyPr>
          <a:lstStyle/>
          <a:p>
            <a:r>
              <a:rPr lang="en-GB" dirty="0"/>
              <a:t>Rustam Togambayev</a:t>
            </a:r>
          </a:p>
        </p:txBody>
      </p:sp>
    </p:spTree>
    <p:extLst>
      <p:ext uri="{BB962C8B-B14F-4D97-AF65-F5344CB8AC3E}">
        <p14:creationId xmlns:p14="http://schemas.microsoft.com/office/powerpoint/2010/main" val="1966309665"/>
      </p:ext>
    </p:extLst>
  </p:cSld>
  <p:clrMapOvr>
    <a:masterClrMapping/>
  </p:clrMapOvr>
</p:sld>
</file>

<file path=ppt/theme/theme1.xml><?xml version="1.0" encoding="utf-8"?>
<a:theme xmlns:a="http://schemas.openxmlformats.org/drawingml/2006/main" name="RelStat-Title">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2.xml><?xml version="1.0" encoding="utf-8"?>
<a:theme xmlns:a="http://schemas.openxmlformats.org/drawingml/2006/main" name="RelStat-Conten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1" id="{71F6F22B-A37B-4890-B89E-DCF440AC0BB8}" vid="{285A99D1-9C4A-46B3-87C0-AB6728A7CF6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4553</TotalTime>
  <Words>1097</Words>
  <Application>Microsoft Macintosh PowerPoint</Application>
  <PresentationFormat>On-screen Show (4:3)</PresentationFormat>
  <Paragraphs>147</Paragraphs>
  <Slides>19</Slides>
  <Notes>13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Aptos</vt:lpstr>
      <vt:lpstr>Arial</vt:lpstr>
      <vt:lpstr>Calibri</vt:lpstr>
      <vt:lpstr>Calibri Light</vt:lpstr>
      <vt:lpstr>YS Display</vt:lpstr>
      <vt:lpstr>RelStat-Title</vt:lpstr>
      <vt:lpstr>RelStat-Content</vt:lpstr>
      <vt:lpstr>Human-Centered Digital Twin for Dynamic Competency Management in Airport Ground Handling Operations</vt:lpstr>
      <vt:lpstr>THE BLIND SPOT OF STATIC CERTIFICATION </vt:lpstr>
      <vt:lpstr>Objectivities </vt:lpstr>
      <vt:lpstr>Gaps </vt:lpstr>
      <vt:lpstr>Shift Paradigms. From Compliance to Continuous Competency </vt:lpstr>
      <vt:lpstr>Introducing The Human-centered DT</vt:lpstr>
      <vt:lpstr>Architectural Framework</vt:lpstr>
      <vt:lpstr>Architectural Framework</vt:lpstr>
      <vt:lpstr>Data acquisition and aggregation</vt:lpstr>
      <vt:lpstr>The competency model. Qualifying the Human Element </vt:lpstr>
      <vt:lpstr>The Mathematical Engine of Competency Score </vt:lpstr>
      <vt:lpstr>The Multidimensional Risk Prediction Model </vt:lpstr>
      <vt:lpstr>HCDT Dashboard </vt:lpstr>
      <vt:lpstr>Well-considered Decisions</vt:lpstr>
      <vt:lpstr>Digital Evolution</vt:lpstr>
      <vt:lpstr>Empirical Validation Framework</vt:lpstr>
      <vt:lpstr>PowerPoint Presentation</vt:lpstr>
      <vt:lpstr>Conclusion</vt:lpstr>
      <vt:lpstr>Thank you for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Dmitry Pavlyuk</dc:creator>
  <cp:lastModifiedBy>Erniyaz Adilet</cp:lastModifiedBy>
  <cp:revision>100</cp:revision>
  <dcterms:created xsi:type="dcterms:W3CDTF">2018-07-20T13:43:23Z</dcterms:created>
  <dcterms:modified xsi:type="dcterms:W3CDTF">2026-10-14T14:32:15Z</dcterms:modified>
</cp:coreProperties>
</file>